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BREWMELLOW   |   MIDTERM PRESENTATION</a:t>
            </a:r>
          </a:p>
          <a:p>
            <a:pPr>
              <a:spcBef>
                <a:spcPts val="600"/>
              </a:spcBef>
              <a:defRPr sz="3200" b="1">
                <a:solidFill>
                  <a:srgbClr val="F1F5F9"/>
                </a:solidFill>
              </a:defRPr>
            </a:pPr>
            <a:r>
              <a:t>The User &amp; The Specialty Coffee Problem</a:t>
            </a:r>
          </a:p>
          <a:p>
            <a:pPr>
              <a:spcBef>
                <a:spcPts val="800"/>
              </a:spcBef>
              <a:defRPr sz="1300">
                <a:solidFill>
                  <a:srgbClr val="64748B"/>
                </a:solidFill>
              </a:defRPr>
            </a:pPr>
            <a:r>
              <a:t>Speaker: Aanchal Jaiswal (jaasly07)   •   Time: 0:00 – 0:40   •   No Feature Pitching Upfront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5120640" cy="3108960"/>
          </a:xfrm>
          <a:prstGeom prst="roundRect">
            <a:avLst/>
          </a:prstGeom>
          <a:solidFill>
            <a:srgbClr val="26201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👤 The Target User</a:t>
            </a:r>
          </a:p>
          <a:p>
            <a:pPr>
              <a:spcBef>
                <a:spcPts val="1200"/>
              </a:spcBef>
              <a:defRPr sz="1400">
                <a:solidFill>
                  <a:srgbClr val="F1F5F9"/>
                </a:solidFill>
              </a:defRPr>
            </a:pPr>
            <a:r>
              <a:t>• Specialty coffee enthusiasts &amp; home-brewers in Nepal and diaspora.</a:t>
            </a:r>
          </a:p>
          <a:p>
            <a:pPr>
              <a:spcBef>
                <a:spcPts val="800"/>
              </a:spcBef>
              <a:defRPr sz="1400">
                <a:solidFill>
                  <a:srgbClr val="F1F5F9"/>
                </a:solidFill>
              </a:defRPr>
            </a:pPr>
            <a:r>
              <a:t>• Consumers who value single-origin terroir, high altitudes (1,400m–1,800m), and bean processing methods (Washed, Natural, Honey).</a:t>
            </a:r>
          </a:p>
          <a:p>
            <a:pPr>
              <a:spcBef>
                <a:spcPts val="800"/>
              </a:spcBef>
              <a:defRPr sz="1400">
                <a:solidFill>
                  <a:srgbClr val="F1F5F9"/>
                </a:solidFill>
              </a:defRPr>
            </a:pPr>
            <a:r>
              <a:t>• Home-brewers using Pour-Over (V60), Aeropress, French Press, and Moka Pot needing tailored grind sizes.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926080"/>
            <a:ext cx="5120640" cy="3108960"/>
          </a:xfrm>
          <a:prstGeom prst="roundRect">
            <a:avLst/>
          </a:prstGeom>
          <a:solidFill>
            <a:srgbClr val="26201C"/>
          </a:solidFill>
          <a:ln w="19050">
            <a:solidFill>
              <a:srgbClr val="A34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800" b="1">
                <a:solidFill>
                  <a:srgbClr val="A3432A"/>
                </a:solidFill>
              </a:defRPr>
            </a:pPr>
            <a:r>
              <a:t>⚠️ The Real Problem</a:t>
            </a:r>
          </a:p>
          <a:p>
            <a:pPr>
              <a:spcBef>
                <a:spcPts val="1200"/>
              </a:spcBef>
              <a:defRPr sz="1400">
                <a:solidFill>
                  <a:srgbClr val="F1F5F9"/>
                </a:solidFill>
              </a:defRPr>
            </a:pPr>
            <a:r>
              <a:t>• Zero Origin Transparency: Retail store coffee in Kathmandu is stale, dark commercial blends with no harvest date, altitude, or farm origin.</a:t>
            </a:r>
          </a:p>
          <a:p>
            <a:pPr>
              <a:spcBef>
                <a:spcPts val="800"/>
              </a:spcBef>
              <a:defRPr sz="1400">
                <a:solidFill>
                  <a:srgbClr val="F1F5F9"/>
                </a:solidFill>
              </a:defRPr>
            </a:pPr>
            <a:r>
              <a:t>• Inaccessible Micro-lots: High-altitude specialty beans (Gulmi, Ilam, Nuwakot) are primarily exported; domestic drinkers cannot easily buy them.</a:t>
            </a:r>
          </a:p>
          <a:p>
            <a:pPr>
              <a:spcBef>
                <a:spcPts val="800"/>
              </a:spcBef>
              <a:defRPr sz="1400">
                <a:solidFill>
                  <a:srgbClr val="F1F5F9"/>
                </a:solidFill>
              </a:defRPr>
            </a:pPr>
            <a:r>
              <a:t>• No Personalized Subscriptions: Drinkers have no way to automate fresh roast-to-order deliveries matching their brewing consumption.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ENGINEERING SCOPE &amp; BOUNDARIES   |   SPEAKER: Aditya Kumar Gupta (notyouradhee) • 0:40 – 1:15</a:t>
            </a:r>
          </a:p>
          <a:p>
            <a:pPr>
              <a:spcBef>
                <a:spcPts val="400"/>
              </a:spcBef>
              <a:defRPr sz="2600" b="1">
                <a:solidFill>
                  <a:srgbClr val="1A1512"/>
                </a:solidFill>
              </a:defRPr>
            </a:pPr>
            <a:r>
              <a:t>Scope of this Demo &amp; Full-Stack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6D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800" b="1">
                <a:solidFill>
                  <a:srgbClr val="A3432A"/>
                </a:solidFill>
              </a:defRPr>
            </a:pPr>
            <a:r>
              <a:t>🏗️ Technology Architecture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Frontend Application: Next.js 16 (React 19) + Tailwind CSS with responsive PWA support.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Cloud Deployment: Deployed live on Vercel over HTTPS: team-2-capstone-design-one.vercel.app.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Backend REST API: Django 5.1 + Django REST Framework handling order models and validation.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Database Layer: Serverless PostgreSQL hosted on Neon with connection pooling.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🛡️ Scope Boundary (Stated Upfront)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What We ARE Demonstrating: A complete, verified vertical slice: Home → Regional Origin Selection (/origins) → Checkout State Synchronization → Simulated Payment Modal → Order Persistence in PostgreSQL.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What IS Simulated: Payment is flagged internally as is_fake_payment=True. No real credit cards or Khalti mobile wallet balances are deducted.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Why We Do This: The midterm presentation rubric rewards honest boundaries. We prove end-to-end data flow without faking live banking transactions.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LIVE PRODUCT WALKTHROUGH   |   SPEAKER: Aditya Kumar Gupta (notyouradhee) • 1:15 – 2:00</a:t>
            </a:r>
          </a:p>
          <a:p>
            <a:pPr>
              <a:spcBef>
                <a:spcPts val="400"/>
              </a:spcBef>
              <a:defRPr sz="2600" b="1">
                <a:solidFill>
                  <a:srgbClr val="1A1512"/>
                </a:solidFill>
              </a:defRPr>
            </a:pPr>
            <a:r>
              <a:t>Live Walkthrough: Regional Nepali Coffee Origins</a:t>
            </a:r>
          </a:p>
        </p:txBody>
      </p:sp>
      <p:pic>
        <p:nvPicPr>
          <p:cNvPr id="4" name="Picture 3" descr="origins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43369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6D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A3432A"/>
                </a:solidFill>
              </a:defRPr>
            </a:pPr>
            <a:r>
              <a:t>🏔️ 3 Signature Terroirs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Gulmi Reserve: 1,600m altitude, fully washed, honey sweetness &amp; dark chocolate finish.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Ilam Gold: 1,800m altitude, sun-dried natural, white jasmine &amp; warm caramel notes.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Nuwakot Heritage: 1,400m altitude, honey processed, roasted walnut &amp; molasses notes.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Query State Routing: Clicking 'Shop Gulmi Reserve' passes parameters directly into URL query state: /checkout?origin=1&amp;name=Gulmi+Reserve&amp;price=1200.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LIVE PRODUCT WALKTHROUGH   |   SPEAKER: Aditya Kumar Gupta (notyouradhee) • 2:00 – 2:45</a:t>
            </a:r>
          </a:p>
          <a:p>
            <a:pPr>
              <a:spcBef>
                <a:spcPts val="400"/>
              </a:spcBef>
              <a:defRPr sz="2600" b="1">
                <a:solidFill>
                  <a:srgbClr val="1A1512"/>
                </a:solidFill>
              </a:defRPr>
            </a:pPr>
            <a:r>
              <a:t>Dynamic Checkout &amp; Simulated Order Confirmation</a:t>
            </a:r>
          </a:p>
        </p:txBody>
      </p:sp>
      <p:pic>
        <p:nvPicPr>
          <p:cNvPr id="4" name="Picture 3" descr="checkou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54675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6D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A3432A"/>
                </a:solidFill>
              </a:defRPr>
            </a:pPr>
            <a:r>
              <a:t>⚡ Checkout Flow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State Preservation: Checkout summary dynamically recalculates total (Rs. 1,200) from URL params without client state loss.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Client Validation: Checks delivery full name, valid email, Nepal phone (+977), and shipping address.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Server-Side API Call: Dispatches POST /api/orders/ to Django REST backend.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PostgreSQL Persistence: Order row saved in Neon DB with status CONFIRMED.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Simulated Payment Modal: Surfaces 2.0s confirmation modal with clear, non-deceptive messaging.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LIVE PRODUCT WALKTHROUGH   |   SPEAKER: Aditya Kumar Gupta (notyouradhee) • 2:45 – 3:30</a:t>
            </a:r>
          </a:p>
          <a:p>
            <a:pPr>
              <a:spcBef>
                <a:spcPts val="400"/>
              </a:spcBef>
              <a:defRPr sz="2600" b="1">
                <a:solidFill>
                  <a:srgbClr val="1A1512"/>
                </a:solidFill>
              </a:defRPr>
            </a:pPr>
            <a:r>
              <a:t>Post-Purchase: Customer Portal &amp; Operations Hub</a:t>
            </a:r>
          </a:p>
        </p:txBody>
      </p:sp>
      <p:pic>
        <p:nvPicPr>
          <p:cNvPr id="4" name="Picture 3" descr="dashboard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12080" cy="4316254"/>
          </a:xfrm>
          <a:prstGeom prst="rect">
            <a:avLst/>
          </a:prstGeom>
        </p:spPr>
      </p:pic>
      <p:pic>
        <p:nvPicPr>
          <p:cNvPr id="5" name="Picture 4" descr="admin-backoff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3909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1512"/>
                </a:solidFill>
              </a:defRPr>
            </a:pPr>
            <a:r>
              <a:t>1. Customer Portal (/dashboard): Active Nuwakot box, roast date Oct 18, and 4-stage Himalayan Express tracker (Confirmed → Roasting → Dispatched → Delivered).</a:t>
            </a:r>
          </a:p>
          <a:p>
            <a:pPr>
              <a:spcBef>
                <a:spcPts val="400"/>
              </a:spcBef>
              <a:defRPr sz="1200" b="1">
                <a:solidFill>
                  <a:srgbClr val="1A1512"/>
                </a:solidFill>
              </a:defRPr>
            </a:pPr>
            <a:r>
              <a:t>2. Operations Console (/admin): Roastery metrics (Rs. 22,150 Gross Revenue, 5 Subscribers, drum queue) and live order fulfillment status dropdowns.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QUALITY ASSURANCE &amp; CODE REVIEW   |   SPEAKER: Kushan Gautam (Kushan2191) • 3:30 – 4:15</a:t>
            </a:r>
          </a:p>
          <a:p>
            <a:pPr>
              <a:spcBef>
                <a:spcPts val="400"/>
              </a:spcBef>
              <a:defRPr sz="2600" b="1">
                <a:solidFill>
                  <a:srgbClr val="1A1512"/>
                </a:solidFill>
              </a:defRPr>
            </a:pPr>
            <a:r>
              <a:t>Independent QA &amp; Defensive Empty-Cart Edge Case</a:t>
            </a:r>
          </a:p>
        </p:txBody>
      </p:sp>
      <p:pic>
        <p:nvPicPr>
          <p:cNvPr id="4" name="Picture 3" descr="checkout-empty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385762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6D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2E6B34"/>
                </a:solidFill>
              </a:defRPr>
            </a:pPr>
            <a:r>
              <a:t>🧪 Non-Author Verification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Clean-Clone Testing: Cloned fresh repo on an independent machine; ran origin selection and checkout flow without author coaching.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PR Code Review: Audited PR #44 code changes, tested parameters, and approved/merged via commit 9d45f95.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Defensive Edge Case: What if a customer visits /checkout directly with an empty cart?</a:t>
            </a:r>
          </a:p>
          <a:p>
            <a:pPr>
              <a:spcBef>
                <a:spcPts val="800"/>
              </a:spcBef>
              <a:defRPr sz="1200">
                <a:solidFill>
                  <a:srgbClr val="1A1512"/>
                </a:solidFill>
              </a:defRPr>
            </a:pPr>
            <a:r>
              <a:t>• Crash Prevention: Handled missing parameters gracefully—displays 'Your Cart is Empty' card with direct 'Build Your Plan' CTA instead of a blank white-screen crash.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FRONTEND ERGONOMICS &amp; ACCESSIBILITY   |   SPEAKER: Aanchal Jaiswal (jaasly07) • 4:15 – 5:00</a:t>
            </a:r>
          </a:p>
          <a:p>
            <a:pPr>
              <a:spcBef>
                <a:spcPts val="400"/>
              </a:spcBef>
              <a:defRPr sz="2600" b="1">
                <a:solidFill>
                  <a:srgbClr val="1A1512"/>
                </a:solidFill>
              </a:defRPr>
            </a:pPr>
            <a:r>
              <a:t>Mobile PWA &amp; WCAG Accessibility Audit</a:t>
            </a:r>
          </a:p>
        </p:txBody>
      </p:sp>
      <p:pic>
        <p:nvPicPr>
          <p:cNvPr id="4" name="Picture 3" descr="origins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2926080" cy="72026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0" y="1645920"/>
            <a:ext cx="685800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6D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600" b="1">
                <a:solidFill>
                  <a:srgbClr val="A3432A"/>
                </a:solidFill>
              </a:defRPr>
            </a:pPr>
            <a:r>
              <a:t>📱 390px Mobile Viewport Audit (iPhone Profile)</a:t>
            </a:r>
          </a:p>
          <a:p>
            <a:pPr>
              <a:spcBef>
                <a:spcPts val="1000"/>
              </a:spcBef>
              <a:defRPr sz="1300">
                <a:solidFill>
                  <a:srgbClr val="1A1512"/>
                </a:solidFill>
              </a:defRPr>
            </a:pPr>
            <a:r>
              <a:t>• Responsive Card Stacking: 3-column desktop grid cleanly collapses into a 1-column mobile card stack with zero horizontal scroll overflow.</a:t>
            </a:r>
          </a:p>
          <a:p>
            <a:pPr>
              <a:spcBef>
                <a:spcPts val="1000"/>
              </a:spcBef>
              <a:defRPr sz="1300">
                <a:solidFill>
                  <a:srgbClr val="1A1512"/>
                </a:solidFill>
              </a:defRPr>
            </a:pPr>
            <a:r>
              <a:t>• Ergonomic Touch Targets: All CTA buttons styled with py-3 px-6 providing a 52px touch-friendly thumb target (exceeding WCAG 44x44px minimum).</a:t>
            </a:r>
          </a:p>
          <a:p>
            <a:pPr>
              <a:spcBef>
                <a:spcPts val="1000"/>
              </a:spcBef>
              <a:defRPr sz="1300">
                <a:solidFill>
                  <a:srgbClr val="1A1512"/>
                </a:solidFill>
              </a:defRPr>
            </a:pPr>
            <a:r>
              <a:t>• Contrast Compliance: High-contrast typography (#1A1512 on #FAF8F5) exceeding 4.5:1 ratio across all coffee notes and specs.</a:t>
            </a:r>
          </a:p>
          <a:p>
            <a:pPr>
              <a:spcBef>
                <a:spcPts val="1000"/>
              </a:spcBef>
              <a:defRPr sz="1300">
                <a:solidFill>
                  <a:srgbClr val="1A1512"/>
                </a:solidFill>
              </a:defRPr>
            </a:pPr>
            <a:r>
              <a:t>• Stretch Fix (Commit 7b55d72): Resolved fixed-bottom navigation bar collision by introducing safe-area scroll padding (pb-28) so the checkout button is never covered.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DEVOPS &amp; FAULT TOLERANCE   |   SPEAKER: Rohit Kumar Sharma (Rohit-coder201) • 5:00 – 5:45</a:t>
            </a:r>
          </a:p>
          <a:p>
            <a:pPr>
              <a:spcBef>
                <a:spcPts val="400"/>
              </a:spcBef>
              <a:defRPr sz="2600" b="1">
                <a:solidFill>
                  <a:srgbClr val="1A1512"/>
                </a:solidFill>
              </a:defRPr>
            </a:pPr>
            <a:r>
              <a:t>Backend Outage Resilience Smoke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4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800" b="1">
                <a:solidFill>
                  <a:srgbClr val="A3432A"/>
                </a:solidFill>
              </a:defRPr>
            </a:pPr>
            <a:r>
              <a:t>⚡ API Outage Simulation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Tested Outage Mode: Shut down Django backend server and attempted order submission.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Expected &amp; Actual: Frontend caught connection failure gracefully, surfaced an explicit user alert, and recovered cleanly upon server restart.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• Zero White-Screen Crashes: System preserves user form inputs during network interruptions so customer data is never lost.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6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800" b="1">
                <a:solidFill>
                  <a:srgbClr val="2E6B34"/>
                </a:solidFill>
              </a:defRPr>
            </a:pPr>
            <a:r>
              <a:t>💻 Repeatable Smoke Check</a:t>
            </a:r>
          </a:p>
          <a:p>
            <a:pPr>
              <a:spcBef>
                <a:spcPts val="1200"/>
              </a:spcBef>
              <a:defRPr sz="1300">
                <a:solidFill>
                  <a:srgbClr val="1A1512"/>
                </a:solidFill>
              </a:defRPr>
            </a:pPr>
            <a:r>
              <a:t>Documented repeatable curl verification command in the project README for continuous health auditing:</a:t>
            </a:r>
          </a:p>
          <a:p>
            <a:pPr>
              <a:spcBef>
                <a:spcPts val="1400"/>
              </a:spcBef>
              <a:defRPr sz="1100" b="1">
                <a:solidFill>
                  <a:srgbClr val="D97706"/>
                </a:solidFill>
              </a:defRPr>
            </a:pPr>
            <a:r>
              <a:t>curl -s -X POST http://localhost:8000/api/orders/ \</a:t>
            </a:r>
            <a:br/>
            <a:r>
              <a:t>  -H "Content-Type: application/json" \</a:t>
            </a:r>
            <a:br/>
            <a:r>
              <a:t>  -d '{"origin_id":1,"origin_name":"Gulmi Reserve","total_price_npr":1200}'</a:t>
            </a:r>
          </a:p>
          <a:p>
            <a:pPr>
              <a:spcBef>
                <a:spcPts val="1400"/>
              </a:spcBef>
              <a:defRPr sz="1200" b="1">
                <a:solidFill>
                  <a:srgbClr val="2E6B34"/>
                </a:solidFill>
              </a:defRPr>
            </a:pPr>
            <a:r>
              <a:t>Expected Result: HTTP 201 Created with persisted Order 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REFLECTION &amp; ROADMAP   |   SPEAKER: ROHIT KUMAR SHARMA (ROHIT-CODER201) • 5:45 – 6:30</a:t>
            </a:r>
          </a:p>
          <a:p>
            <a:pPr>
              <a:spcBef>
                <a:spcPts val="400"/>
              </a:spcBef>
              <a:defRPr sz="2800" b="1">
                <a:solidFill>
                  <a:srgbClr val="F1F5F9"/>
                </a:solidFill>
              </a:defRPr>
            </a:pPr>
            <a:r>
              <a:t>Honest Limitations &amp; Sprint 2 Post-Midterm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26201C"/>
          </a:solidFill>
          <a:ln w="19050">
            <a:solidFill>
              <a:srgbClr val="A34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800" b="1">
                <a:solidFill>
                  <a:srgbClr val="A3432A"/>
                </a:solidFill>
              </a:defRPr>
            </a:pPr>
            <a:r>
              <a:t>⚠️ What is Incomplete Today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Simulated Payment Gateway: Current checkout simulates payment via internal flag is_fake_payment=True. Real Khalti mobile wallet sandbox deduction is pending.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Automated Transactional Emails: Order records are created in database, but customer dispatch emails via SMTP/SendGrid remain in development.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High-Concurrency Load: Database pooling under heavy load has not been tested.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828800"/>
            <a:ext cx="5120640" cy="4114800"/>
          </a:xfrm>
          <a:prstGeom prst="roundRect">
            <a:avLst/>
          </a:prstGeom>
          <a:solidFill>
            <a:srgbClr val="26201C"/>
          </a:solidFill>
          <a:ln w="19050">
            <a:solidFill>
              <a:srgbClr val="2E6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800" b="1">
                <a:solidFill>
                  <a:srgbClr val="2E6B34"/>
                </a:solidFill>
              </a:defRPr>
            </a:pPr>
            <a:r>
              <a:t>🚀 Sprint 2 Roadmap (Post-Midterm)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1. Khalti Sandbox SDK Integration: Replace simulated payment modal with real test mobile wallet credentials (NPR currency).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2. Transactional Email Service: Automate customer confirmation &amp; courier tracking emails upon order placement.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3. Roastery Operations Portal: Expand backoffice fulfillment status management for artisanal coffee roasters.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