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48455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1A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65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2700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27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683345"/>
            <a:ext cx="10566400" cy="4361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65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2700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27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683345"/>
            <a:ext cx="10566400" cy="4361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apstoneDesign-Fall2026-UlsanCollege/team_2_capstone_design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team-2-capstone-design-one.vercel.app/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6080" y="513159"/>
            <a:ext cx="2667000" cy="502841"/>
          </a:xfrm>
          <a:custGeom>
            <a:avLst/>
            <a:gdLst/>
            <a:ahLst/>
            <a:cxnLst/>
            <a:rect l="l" t="t" r="r" b="b"/>
            <a:pathLst>
              <a:path w="2667000" h="502841">
                <a:moveTo>
                  <a:pt x="152400" y="0"/>
                </a:moveTo>
                <a:lnTo>
                  <a:pt x="2514600" y="0"/>
                </a:lnTo>
                <a:arcTo wR="152400" hR="152400" stAng="16200000" swAng="5400000"/>
                <a:lnTo>
                  <a:pt x="2667000" y="350441"/>
                </a:lnTo>
                <a:arcTo wR="152400" hR="152400" stAng="0" swAng="5400000"/>
                <a:lnTo>
                  <a:pt x="152400" y="502841"/>
                </a:lnTo>
                <a:arcTo wR="152400" hR="152400" stAng="5400000" swAng="5400000"/>
                <a:lnTo>
                  <a:pt x="0" y="152400"/>
                </a:lnTo>
                <a:arcTo wR="152400" hR="152400" stAng="10800000" swAng="5400000"/>
                <a:close/>
              </a:path>
            </a:pathLst>
          </a:custGeom>
          <a:solidFill>
            <a:srgbClr val="D97706"/>
          </a:solidFill>
          <a:ln/>
        </p:spPr>
        <p:txBody>
          <a:bodyPr wrap="square" lIns="139700" tIns="38100" rIns="68072" bIns="1270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CAPSTONE DESIGN MIDTERM · TEAM -2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386080" y="1796792"/>
            <a:ext cx="10883392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300"/>
              </a:lnSpc>
              <a:buNone/>
            </a:pPr>
            <a:r>
              <a:rPr lang="en-US" sz="6000" b="1" dirty="0" err="1">
                <a:latin typeface="Georgia" pitchFamily="18" charset="0"/>
                <a:ea typeface="Georgia" pitchFamily="18" charset="-122"/>
                <a:cs typeface="Georgia" pitchFamily="18" charset="-120"/>
              </a:rPr>
              <a:t>BrewMellow</a:t>
            </a:r>
            <a:r>
              <a:rPr lang="en-US" sz="6000" b="1" dirty="0">
                <a:latin typeface="Georgia" pitchFamily="18" charset="0"/>
                <a:ea typeface="Georgia" pitchFamily="18" charset="-122"/>
                <a:cs typeface="Georgia" pitchFamily="18" charset="-120"/>
              </a:rPr>
              <a:t>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383159" y="2568842"/>
            <a:ext cx="1088339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0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Nepali specialty coffee, roasted to order and delivered fresh</a:t>
            </a:r>
            <a:endParaRPr lang="en-US" sz="200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812800" y="4955580"/>
            <a:ext cx="2527300" cy="886420"/>
          </a:xfrm>
          <a:prstGeom prst="roundRect">
            <a:avLst>
              <a:gd name="adj" fmla="val 11462"/>
            </a:avLst>
          </a:prstGeom>
          <a:solidFill>
            <a:srgbClr val="261E19"/>
          </a:solidFill>
          <a:ln/>
        </p:spPr>
      </p:sp>
      <p:sp>
        <p:nvSpPr>
          <p:cNvPr id="7" name="Shape 5"/>
          <p:cNvSpPr/>
          <p:nvPr/>
        </p:nvSpPr>
        <p:spPr>
          <a:xfrm>
            <a:off x="812800" y="4955580"/>
            <a:ext cx="2527300" cy="886420"/>
          </a:xfrm>
          <a:custGeom>
            <a:avLst/>
            <a:gdLst/>
            <a:ahLst/>
            <a:cxnLst/>
            <a:rect l="l" t="t" r="r" b="b"/>
            <a:pathLst>
              <a:path w="2527300" h="886420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2425700" y="0"/>
                </a:lnTo>
                <a:arcTo wR="101600" hR="101600" stAng="16200000" swAng="5400000"/>
                <a:lnTo>
                  <a:pt x="2527300" y="101600"/>
                </a:lnTo>
                <a:arcTo wR="101600" hR="63500" stAng="0" swAng="-5400000"/>
                <a:lnTo>
                  <a:pt x="101600" y="38100"/>
                </a:lnTo>
                <a:arcTo wR="101600" hR="63500" stAng="16200000" swAng="-5400000"/>
                <a:close/>
              </a:path>
            </a:pathLst>
          </a:custGeom>
          <a:solidFill>
            <a:srgbClr val="D97706"/>
          </a:solidFill>
          <a:ln/>
        </p:spPr>
      </p:sp>
      <p:sp>
        <p:nvSpPr>
          <p:cNvPr id="8" name="Text 6"/>
          <p:cNvSpPr/>
          <p:nvPr/>
        </p:nvSpPr>
        <p:spPr>
          <a:xfrm>
            <a:off x="990600" y="5171480"/>
            <a:ext cx="223685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Aanchal ch. Thakuri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90600" y="5450880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@jaasly07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92500" y="4955580"/>
            <a:ext cx="2527300" cy="886420"/>
          </a:xfrm>
          <a:prstGeom prst="roundRect">
            <a:avLst>
              <a:gd name="adj" fmla="val 11462"/>
            </a:avLst>
          </a:prstGeom>
          <a:solidFill>
            <a:srgbClr val="261E19"/>
          </a:solidFill>
          <a:ln/>
        </p:spPr>
      </p:sp>
      <p:sp>
        <p:nvSpPr>
          <p:cNvPr id="11" name="Shape 9"/>
          <p:cNvSpPr/>
          <p:nvPr/>
        </p:nvSpPr>
        <p:spPr>
          <a:xfrm>
            <a:off x="3492500" y="4955580"/>
            <a:ext cx="2527300" cy="886420"/>
          </a:xfrm>
          <a:custGeom>
            <a:avLst/>
            <a:gdLst/>
            <a:ahLst/>
            <a:cxnLst/>
            <a:rect l="l" t="t" r="r" b="b"/>
            <a:pathLst>
              <a:path w="2527300" h="886420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2425700" y="0"/>
                </a:lnTo>
                <a:arcTo wR="101600" hR="101600" stAng="16200000" swAng="5400000"/>
                <a:lnTo>
                  <a:pt x="2527300" y="101600"/>
                </a:lnTo>
                <a:arcTo wR="101600" hR="63500" stAng="0" swAng="-5400000"/>
                <a:lnTo>
                  <a:pt x="101600" y="38100"/>
                </a:lnTo>
                <a:arcTo wR="101600" hR="63500" stAng="16200000" swAng="-5400000"/>
                <a:close/>
              </a:path>
            </a:pathLst>
          </a:cu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3670300" y="5171480"/>
            <a:ext cx="223685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Aditya Kumar Gupta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70300" y="5450880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@notyouradhee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72200" y="4955580"/>
            <a:ext cx="2527300" cy="886420"/>
          </a:xfrm>
          <a:prstGeom prst="roundRect">
            <a:avLst>
              <a:gd name="adj" fmla="val 11462"/>
            </a:avLst>
          </a:prstGeom>
          <a:solidFill>
            <a:srgbClr val="261E19"/>
          </a:solidFill>
          <a:ln/>
        </p:spPr>
      </p:sp>
      <p:sp>
        <p:nvSpPr>
          <p:cNvPr id="15" name="Shape 13"/>
          <p:cNvSpPr/>
          <p:nvPr/>
        </p:nvSpPr>
        <p:spPr>
          <a:xfrm>
            <a:off x="6172200" y="4955580"/>
            <a:ext cx="2527300" cy="886420"/>
          </a:xfrm>
          <a:custGeom>
            <a:avLst/>
            <a:gdLst/>
            <a:ahLst/>
            <a:cxnLst/>
            <a:rect l="l" t="t" r="r" b="b"/>
            <a:pathLst>
              <a:path w="2527300" h="886420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2425700" y="0"/>
                </a:lnTo>
                <a:arcTo wR="101600" hR="101600" stAng="16200000" swAng="5400000"/>
                <a:lnTo>
                  <a:pt x="2527300" y="101600"/>
                </a:lnTo>
                <a:arcTo wR="101600" hR="63500" stAng="0" swAng="-5400000"/>
                <a:lnTo>
                  <a:pt x="101600" y="38100"/>
                </a:lnTo>
                <a:arcTo wR="101600" hR="63500" stAng="16200000" swAng="-5400000"/>
                <a:close/>
              </a:path>
            </a:pathLst>
          </a:custGeom>
          <a:solidFill>
            <a:srgbClr val="D97706"/>
          </a:solidFill>
          <a:ln/>
        </p:spPr>
      </p:sp>
      <p:sp>
        <p:nvSpPr>
          <p:cNvPr id="16" name="Text 14"/>
          <p:cNvSpPr/>
          <p:nvPr/>
        </p:nvSpPr>
        <p:spPr>
          <a:xfrm>
            <a:off x="6350000" y="5171480"/>
            <a:ext cx="223685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Kushan </a:t>
            </a:r>
            <a:r>
              <a:rPr lang="en-US" sz="1500" b="1" dirty="0" err="1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Sunuwar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50000" y="5450880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@Kushan2191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851900" y="4955580"/>
            <a:ext cx="2527300" cy="886420"/>
          </a:xfrm>
          <a:prstGeom prst="roundRect">
            <a:avLst>
              <a:gd name="adj" fmla="val 11462"/>
            </a:avLst>
          </a:prstGeom>
          <a:solidFill>
            <a:srgbClr val="261E19"/>
          </a:solidFill>
          <a:ln/>
        </p:spPr>
      </p:sp>
      <p:sp>
        <p:nvSpPr>
          <p:cNvPr id="19" name="Shape 17"/>
          <p:cNvSpPr/>
          <p:nvPr/>
        </p:nvSpPr>
        <p:spPr>
          <a:xfrm>
            <a:off x="8851900" y="4955580"/>
            <a:ext cx="2527300" cy="886420"/>
          </a:xfrm>
          <a:custGeom>
            <a:avLst/>
            <a:gdLst/>
            <a:ahLst/>
            <a:cxnLst/>
            <a:rect l="l" t="t" r="r" b="b"/>
            <a:pathLst>
              <a:path w="2527300" h="886420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2425700" y="0"/>
                </a:lnTo>
                <a:arcTo wR="101600" hR="101600" stAng="16200000" swAng="5400000"/>
                <a:lnTo>
                  <a:pt x="2527300" y="101600"/>
                </a:lnTo>
                <a:arcTo wR="101600" hR="63500" stAng="0" swAng="-5400000"/>
                <a:lnTo>
                  <a:pt x="101600" y="38100"/>
                </a:lnTo>
                <a:arcTo wR="101600" hR="63500" stAng="16200000" swAng="-5400000"/>
                <a:close/>
              </a:path>
            </a:pathLst>
          </a:custGeom>
          <a:solidFill>
            <a:srgbClr val="D97706"/>
          </a:solidFill>
          <a:ln/>
        </p:spPr>
      </p:sp>
      <p:sp>
        <p:nvSpPr>
          <p:cNvPr id="20" name="Text 18"/>
          <p:cNvSpPr/>
          <p:nvPr/>
        </p:nvSpPr>
        <p:spPr>
          <a:xfrm>
            <a:off x="9029700" y="5171480"/>
            <a:ext cx="223685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Rohit </a:t>
            </a:r>
            <a:r>
              <a:rPr lang="en-US" sz="1500" b="1" dirty="0" err="1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Chantiyal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029700" y="5450880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@Rohit-coder201</a:t>
            </a:r>
            <a:endParaRPr 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08AF675-084A-CB29-7078-9900101A4C77}"/>
              </a:ext>
            </a:extLst>
          </p:cNvPr>
          <p:cNvSpPr txBox="1"/>
          <p:nvPr/>
        </p:nvSpPr>
        <p:spPr>
          <a:xfrm>
            <a:off x="383159" y="3257015"/>
            <a:ext cx="80391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err="1"/>
              <a:t>github</a:t>
            </a:r>
            <a:r>
              <a:rPr lang="en-IN" sz="1400" dirty="0"/>
              <a:t> Link : </a:t>
            </a:r>
            <a:r>
              <a:rPr lang="en-IN" sz="1400" dirty="0">
                <a:solidFill>
                  <a:schemeClr val="accent1">
                    <a:lumMod val="40000"/>
                    <a:lumOff val="60000"/>
                  </a:schemeClr>
                </a:solidFill>
                <a:hlinkClick r:id="rId3"/>
              </a:rPr>
              <a:t>https://github.com/CapstoneDesign-Fall2026-UlsanCollege/team_2_capstone_design</a:t>
            </a:r>
            <a:endParaRPr lang="en-IN" sz="14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endParaRPr lang="en-IN" sz="14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r>
              <a:rPr lang="en-IN" sz="1400" dirty="0"/>
              <a:t>Live Demo </a:t>
            </a:r>
            <a:r>
              <a:rPr lang="en-IN" sz="14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: </a:t>
            </a:r>
            <a:r>
              <a:rPr lang="en-IN" sz="1400" dirty="0">
                <a:solidFill>
                  <a:schemeClr val="accent1">
                    <a:lumMod val="40000"/>
                    <a:lumOff val="60000"/>
                  </a:schemeClr>
                </a:solidFill>
                <a:hlinkClick r:id="rId4"/>
              </a:rPr>
              <a:t>https://team-2-capstone-design-one.vercel.app</a:t>
            </a:r>
            <a:endParaRPr lang="en-IN" sz="14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endParaRPr lang="en-IN" sz="14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02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rPr lang="en-US" sz="2700" b="1" i="0" dirty="0">
                <a:solidFill>
                  <a:srgbClr val="FAF8F5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The User &amp; The Specialty Coffee Problem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81336" y="1418563"/>
            <a:ext cx="4747485" cy="4423437"/>
          </a:xfrm>
          <a:prstGeom prst="roundRect">
            <a:avLst>
              <a:gd name="adj" fmla="val 2297"/>
            </a:avLst>
          </a:prstGeom>
          <a:solidFill>
            <a:srgbClr val="261E19"/>
          </a:solidFill>
          <a:ln/>
        </p:spPr>
      </p:sp>
      <p:sp>
        <p:nvSpPr>
          <p:cNvPr id="4" name="Text 2"/>
          <p:cNvSpPr/>
          <p:nvPr/>
        </p:nvSpPr>
        <p:spPr>
          <a:xfrm>
            <a:off x="1783178" y="1720520"/>
            <a:ext cx="447131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TARGET USER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57503" y="2401160"/>
            <a:ext cx="4471318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AF8F5"/>
                </a:solidFill>
                <a:ea typeface="Georgia" pitchFamily="18" charset="-122"/>
                <a:cs typeface="Georgia" pitchFamily="18" charset="-120"/>
              </a:rPr>
              <a:t>Specialty coffee enthusiasts and home-brewers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57503" y="3141663"/>
            <a:ext cx="447131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Nepal and the diaspora.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5860" y="3767739"/>
            <a:ext cx="4471318" cy="1021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seek single-origin Himalayan beans with distinct elevations and processing methods (Washed, Natural, Honey) for manual brewing: V60, Aeropress, French Press.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763485" y="1418564"/>
            <a:ext cx="5615715" cy="4423437"/>
          </a:xfrm>
          <a:prstGeom prst="roundRect">
            <a:avLst>
              <a:gd name="adj" fmla="val 2297"/>
            </a:avLst>
          </a:prstGeom>
          <a:solidFill>
            <a:srgbClr val="261E19"/>
          </a:solidFill>
          <a:ln/>
        </p:spPr>
      </p:sp>
      <p:sp>
        <p:nvSpPr>
          <p:cNvPr id="9" name="Text 7"/>
          <p:cNvSpPr/>
          <p:nvPr/>
        </p:nvSpPr>
        <p:spPr>
          <a:xfrm>
            <a:off x="7556338" y="1680614"/>
            <a:ext cx="536559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PROBLEM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13605" y="2384584"/>
            <a:ext cx="536559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transparency in retail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013605" y="2721571"/>
            <a:ext cx="5365595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Kathmandu supermarket coffee is stale, dark-roasted commercial blend with no harvest altitude, processing method or roast date.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966685" y="3854318"/>
            <a:ext cx="536559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Inaccessible micro-lots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966685" y="4160005"/>
            <a:ext cx="5365595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beans from Gulmi, Ilam and Nuwakot are mostly exported. Locals have no direct platform for fresh roast-to-order subscriptions.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2800" y="6238280"/>
            <a:ext cx="2334154" cy="289520"/>
          </a:xfrm>
          <a:custGeom>
            <a:avLst/>
            <a:gdLst/>
            <a:ahLst/>
            <a:cxnLst/>
            <a:rect l="l" t="t" r="r" b="b"/>
            <a:pathLst>
              <a:path w="2334154" h="289520">
                <a:moveTo>
                  <a:pt x="144760" y="0"/>
                </a:moveTo>
                <a:lnTo>
                  <a:pt x="2189394" y="0"/>
                </a:lnTo>
                <a:arcTo wR="144760" hR="144760" stAng="16200000" swAng="5400000"/>
                <a:lnTo>
                  <a:pt x="2334154" y="144760"/>
                </a:lnTo>
                <a:arcTo wR="144760" hR="144760" stAng="0" swAng="5400000"/>
                <a:lnTo>
                  <a:pt x="144760" y="289520"/>
                </a:lnTo>
                <a:arcTo wR="144760" hR="144760" stAng="5400000" swAng="5400000"/>
                <a:lnTo>
                  <a:pt x="0" y="144760"/>
                </a:lnTo>
                <a:arcTo wR="144760" hR="144760" stAng="10800000" swAng="5400000"/>
                <a:close/>
              </a:path>
            </a:pathLst>
          </a:custGeom>
          <a:solidFill>
            <a:srgbClr val="D97706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Aanchal Thakuri · @jaasly07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16520" y="6250980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1/8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02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rPr lang="en-US" sz="2700" b="1" i="0" dirty="0">
                <a:solidFill>
                  <a:srgbClr val="1A1512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Scope of this Demo &amp; Full-Stack Architecture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868222" y="1518278"/>
            <a:ext cx="5175250" cy="4417087"/>
          </a:xfrm>
          <a:prstGeom prst="roundRect">
            <a:avLst>
              <a:gd name="adj" fmla="val 2228"/>
            </a:avLst>
          </a:prstGeom>
          <a:solidFill>
            <a:srgbClr val="FFFFFF"/>
          </a:solidFill>
          <a:ln w="6350">
            <a:solidFill>
              <a:srgbClr val="E7E1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13339" y="1837433"/>
            <a:ext cx="49097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A3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ARCHITECTURE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20233" y="2487943"/>
            <a:ext cx="490973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0233" y="2811347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16 (React 19) + Tailwind CSS, live on Vercel over HTTPS.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20233" y="3407562"/>
            <a:ext cx="490973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API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0979" y="3726821"/>
            <a:ext cx="4909735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Django 5.1 REST Framework for orders and data models.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20233" y="4323725"/>
            <a:ext cx="490973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20233" y="4649888"/>
            <a:ext cx="4909735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PostgreSQL cluster on Neon.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51363" y="1468232"/>
            <a:ext cx="5175250" cy="4417087"/>
          </a:xfrm>
          <a:prstGeom prst="roundRect">
            <a:avLst>
              <a:gd name="adj" fmla="val 2228"/>
            </a:avLst>
          </a:prstGeom>
          <a:solidFill>
            <a:srgbClr val="FFFFFF"/>
          </a:solidFill>
          <a:ln w="6350">
            <a:solidFill>
              <a:srgbClr val="E7E1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78217" y="1812608"/>
            <a:ext cx="49097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A3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TRANSPARENT SCOPE BOUNDARY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14043" y="2458331"/>
            <a:ext cx="490973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verified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50838" y="2792117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flow from browsing origins to checkout state sync, database records, customer dashboard and roastery backoffice.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5031" y="3807982"/>
            <a:ext cx="490973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simulated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5032" y="4204197"/>
            <a:ext cx="4909735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is flagged </a:t>
            </a:r>
            <a:r>
              <a:rPr lang="en-US" sz="13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is_fake_payment=True</a:t>
            </a: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No real cards or Khalti balances are charged; real orders are still saved and tracked.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80"/>
            <a:ext cx="3044494" cy="289520"/>
          </a:xfrm>
          <a:custGeom>
            <a:avLst/>
            <a:gdLst/>
            <a:ahLst/>
            <a:cxnLst/>
            <a:rect l="l" t="t" r="r" b="b"/>
            <a:pathLst>
              <a:path w="3044494" h="289520">
                <a:moveTo>
                  <a:pt x="144760" y="0"/>
                </a:moveTo>
                <a:lnTo>
                  <a:pt x="2899734" y="0"/>
                </a:lnTo>
                <a:arcTo wR="144760" hR="144760" stAng="16200000" swAng="5400000"/>
                <a:lnTo>
                  <a:pt x="3044494" y="144760"/>
                </a:lnTo>
                <a:arcTo wR="144760" hR="144760" stAng="0" swAng="5400000"/>
                <a:lnTo>
                  <a:pt x="144760" y="289520"/>
                </a:lnTo>
                <a:arcTo wR="144760" hR="144760" stAng="5400000" swAng="5400000"/>
                <a:lnTo>
                  <a:pt x="0" y="144760"/>
                </a:lnTo>
                <a:arcTo wR="144760" hR="144760" stAng="10800000" swAng="5400000"/>
                <a:close/>
              </a:path>
            </a:pathLst>
          </a:custGeom>
          <a:solidFill>
            <a:srgbClr val="D97706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Aditya Kumar Gupta · @notyouradhee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16520" y="6250980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2/8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02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rPr lang="en-US" sz="2700" b="1" i="0" dirty="0">
                <a:solidFill>
                  <a:srgbClr val="FAF8F5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Live Walkthrough: The Verified Vertical Slice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812800" y="1418565"/>
            <a:ext cx="1088339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Live:  team-2-capstone-design-one.vercel.app/origins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00799" y="2123482"/>
            <a:ext cx="2546350" cy="3315953"/>
          </a:xfrm>
          <a:prstGeom prst="roundRect">
            <a:avLst>
              <a:gd name="adj" fmla="val 3990"/>
            </a:avLst>
          </a:prstGeom>
          <a:solidFill>
            <a:srgbClr val="261E19"/>
          </a:solidFill>
          <a:ln/>
        </p:spPr>
      </p:sp>
      <p:sp>
        <p:nvSpPr>
          <p:cNvPr id="5" name="Text 3"/>
          <p:cNvSpPr/>
          <p:nvPr/>
        </p:nvSpPr>
        <p:spPr>
          <a:xfrm>
            <a:off x="1016000" y="2303026"/>
            <a:ext cx="22041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   1 · /ORIGINS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0101" y="2983032"/>
            <a:ext cx="220414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origins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36998" y="3802812"/>
            <a:ext cx="2204149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micro-lots: Gulmi Reserve (1,600m), Ilam Gold (1,800m), Nuwakot Heritage (1,400m).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74148" y="2123482"/>
            <a:ext cx="2546350" cy="3315953"/>
          </a:xfrm>
          <a:prstGeom prst="roundRect">
            <a:avLst>
              <a:gd name="adj" fmla="val 3990"/>
            </a:avLst>
          </a:prstGeom>
          <a:solidFill>
            <a:srgbClr val="261E19"/>
          </a:solidFill>
          <a:ln/>
        </p:spPr>
      </p:sp>
      <p:sp>
        <p:nvSpPr>
          <p:cNvPr id="9" name="Text 7"/>
          <p:cNvSpPr/>
          <p:nvPr/>
        </p:nvSpPr>
        <p:spPr>
          <a:xfrm>
            <a:off x="3689350" y="2303026"/>
            <a:ext cx="22041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2 · /CHECKOUT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28351" y="2962196"/>
            <a:ext cx="220414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synchronization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816349" y="3770643"/>
            <a:ext cx="2204149" cy="10969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Gulmi Reserve passes parameters in the URL query string; total Rs. 1,200 recalculates with no state loss.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59500" y="2101852"/>
            <a:ext cx="2546350" cy="3337583"/>
          </a:xfrm>
          <a:prstGeom prst="roundRect">
            <a:avLst>
              <a:gd name="adj" fmla="val 3990"/>
            </a:avLst>
          </a:prstGeom>
          <a:solidFill>
            <a:srgbClr val="261E19"/>
          </a:solidFill>
          <a:ln/>
        </p:spPr>
      </p:sp>
      <p:sp>
        <p:nvSpPr>
          <p:cNvPr id="13" name="Text 11"/>
          <p:cNvSpPr/>
          <p:nvPr/>
        </p:nvSpPr>
        <p:spPr>
          <a:xfrm>
            <a:off x="6640703" y="2334140"/>
            <a:ext cx="22041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POST /API/ORDERS/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01701" y="2950131"/>
            <a:ext cx="22041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&amp; order record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25501" y="3695656"/>
            <a:ext cx="2204149" cy="882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an order row to PostgreSQL and opens the 2.0s simulated confirmation modal.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832850" y="2101852"/>
            <a:ext cx="2546350" cy="3337583"/>
          </a:xfrm>
          <a:prstGeom prst="roundRect">
            <a:avLst>
              <a:gd name="adj" fmla="val 3990"/>
            </a:avLst>
          </a:prstGeom>
          <a:solidFill>
            <a:srgbClr val="261E19"/>
          </a:solidFill>
          <a:ln/>
        </p:spPr>
      </p:sp>
      <p:sp>
        <p:nvSpPr>
          <p:cNvPr id="17" name="Text 15"/>
          <p:cNvSpPr/>
          <p:nvPr/>
        </p:nvSpPr>
        <p:spPr>
          <a:xfrm>
            <a:off x="9048051" y="2320055"/>
            <a:ext cx="22041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/DASHBOARD · /ADMIN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048051" y="2916056"/>
            <a:ext cx="220414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Post-purchase hubs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048051" y="3687945"/>
            <a:ext cx="2204149" cy="10969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4-stage tracking (Confirmed → Roasting → Dispatched → Delivered); admin shows Rs. 22,150 revenue and roasting queues.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12800" y="6238280"/>
            <a:ext cx="3044494" cy="289520"/>
          </a:xfrm>
          <a:custGeom>
            <a:avLst/>
            <a:gdLst/>
            <a:ahLst/>
            <a:cxnLst/>
            <a:rect l="l" t="t" r="r" b="b"/>
            <a:pathLst>
              <a:path w="3044494" h="289520">
                <a:moveTo>
                  <a:pt x="144760" y="0"/>
                </a:moveTo>
                <a:lnTo>
                  <a:pt x="2899734" y="0"/>
                </a:lnTo>
                <a:arcTo wR="144760" hR="144760" stAng="16200000" swAng="5400000"/>
                <a:lnTo>
                  <a:pt x="3044494" y="144760"/>
                </a:lnTo>
                <a:arcTo wR="144760" hR="144760" stAng="0" swAng="5400000"/>
                <a:lnTo>
                  <a:pt x="144760" y="289520"/>
                </a:lnTo>
                <a:arcTo wR="144760" hR="144760" stAng="5400000" swAng="5400000"/>
                <a:lnTo>
                  <a:pt x="0" y="144760"/>
                </a:lnTo>
                <a:arcTo wR="144760" hR="144760" stAng="10800000" swAng="5400000"/>
                <a:close/>
              </a:path>
            </a:pathLst>
          </a:custGeom>
          <a:solidFill>
            <a:srgbClr val="D97706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Aditya Kumar Gupta · @notyouradhee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16520" y="6250980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3/8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575932"/>
            <a:ext cx="10883392" cy="402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rPr lang="en-US" sz="2700" b="1" i="0" dirty="0">
                <a:solidFill>
                  <a:srgbClr val="1A1512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Individual Contribution: Aanchal </a:t>
            </a:r>
            <a:r>
              <a:rPr lang="en-US" b="1" dirty="0">
                <a:solidFill>
                  <a:srgbClr val="1A1512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Chand Thakuri</a:t>
            </a:r>
            <a:r>
              <a:rPr lang="en-US" sz="2700" b="1" i="0" dirty="0">
                <a:solidFill>
                  <a:srgbClr val="1A1512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(@jaasly07)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90626" y="1421739"/>
            <a:ext cx="5175250" cy="4417087"/>
          </a:xfrm>
          <a:prstGeom prst="roundRect">
            <a:avLst>
              <a:gd name="adj" fmla="val 2228"/>
            </a:avLst>
          </a:prstGeom>
          <a:solidFill>
            <a:srgbClr val="FFFFFF"/>
          </a:solidFill>
          <a:ln w="6350">
            <a:solidFill>
              <a:srgbClr val="E7E1D8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4" name="Text 2"/>
          <p:cNvSpPr/>
          <p:nvPr/>
        </p:nvSpPr>
        <p:spPr>
          <a:xfrm>
            <a:off x="1831256" y="2041050"/>
            <a:ext cx="49097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A3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CONCRETE CONTRIBUTIONS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48732" y="2629104"/>
            <a:ext cx="4370917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Formulated the target user persona and the specialty coffee retail transparency problem.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48732" y="3421039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Audited the vertical slice at a 390px mobile viewport against WCAG 2.1 AA.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48733" y="4335373"/>
            <a:ext cx="4909735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all CTA buttons give a 52px thumb target (py-3 px-6).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2275" y="1421740"/>
            <a:ext cx="5175250" cy="4417087"/>
          </a:xfrm>
          <a:prstGeom prst="roundRect">
            <a:avLst>
              <a:gd name="adj" fmla="val 2228"/>
            </a:avLst>
          </a:prstGeom>
          <a:solidFill>
            <a:srgbClr val="FFFFFF"/>
          </a:solidFill>
          <a:ln w="6350">
            <a:solidFill>
              <a:srgbClr val="E7E1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97225" y="1981390"/>
            <a:ext cx="49097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A3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EVIDENCE &amp; PROOF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69465" y="2558454"/>
            <a:ext cx="490973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1400" b="1" dirty="0">
                <a:solidFill>
                  <a:srgbClr val="1A1512"/>
                </a:solidFill>
                <a:ea typeface="Arial" pitchFamily="34" charset="-122"/>
                <a:cs typeface="Arial" pitchFamily="34" charset="-120"/>
              </a:rPr>
              <a:t>Commit </a:t>
            </a:r>
            <a:r>
              <a:rPr lang="en-US" sz="1400" dirty="0">
                <a:solidFill>
                  <a:srgbClr val="1A1512"/>
                </a:solidFill>
                <a:ea typeface="Arial" pitchFamily="34" charset="-122"/>
                <a:cs typeface="Arial" pitchFamily="34" charset="-120"/>
              </a:rPr>
              <a:t>ca35b07</a:t>
            </a:r>
            <a:r>
              <a:rPr lang="en-US" sz="1400" b="1" dirty="0">
                <a:solidFill>
                  <a:srgbClr val="1A1512"/>
                </a:solidFill>
                <a:ea typeface="Arial" pitchFamily="34" charset="-122"/>
                <a:cs typeface="Arial" pitchFamily="34" charset="-120"/>
              </a:rPr>
              <a:t>:</a:t>
            </a:r>
            <a:r>
              <a:rPr lang="en-IN" sz="1400" dirty="0">
                <a:solidFill>
                  <a:schemeClr val="bg1"/>
                </a:solidFill>
              </a:rPr>
              <a:t>docs(</a:t>
            </a:r>
            <a:r>
              <a:rPr lang="en-IN" sz="1400" dirty="0" err="1">
                <a:solidFill>
                  <a:schemeClr val="bg1"/>
                </a:solidFill>
              </a:rPr>
              <a:t>ui</a:t>
            </a:r>
            <a:r>
              <a:rPr lang="en-IN" sz="1400" dirty="0">
                <a:solidFill>
                  <a:schemeClr val="bg1"/>
                </a:solidFill>
              </a:rPr>
              <a:t>): record accessibility and mobile responsiveness check for checkout</a:t>
            </a:r>
            <a:r>
              <a:rPr lang="en-US" sz="1400" dirty="0">
                <a:solidFill>
                  <a:schemeClr val="bg1"/>
                </a:solidFill>
                <a:ea typeface="Arial" pitchFamily="34" charset="-122"/>
                <a:cs typeface="Arial" pitchFamily="34" charset="-120"/>
              </a:rPr>
              <a:t>”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6469464" y="3220773"/>
            <a:ext cx="490973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record:</a:t>
            </a:r>
            <a:r>
              <a:rPr lang="en-US" sz="125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docs/week-06/accessibility-and-mobile-check.md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69465" y="3660355"/>
            <a:ext cx="490973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Receipt:</a:t>
            </a:r>
            <a:r>
              <a:rPr lang="en-US" sz="125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docs/week-07/receipts/receipt-aanchal.md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12800" y="6250980"/>
            <a:ext cx="4297680" cy="276820"/>
          </a:xfrm>
          <a:custGeom>
            <a:avLst/>
            <a:gdLst/>
            <a:ahLst/>
            <a:cxnLst/>
            <a:rect l="l" t="t" r="r" b="b"/>
            <a:pathLst>
              <a:path w="3951883" h="289520">
                <a:moveTo>
                  <a:pt x="144760" y="0"/>
                </a:moveTo>
                <a:lnTo>
                  <a:pt x="3807123" y="0"/>
                </a:lnTo>
                <a:arcTo wR="144760" hR="144760" stAng="16200000" swAng="5400000"/>
                <a:lnTo>
                  <a:pt x="3951883" y="144760"/>
                </a:lnTo>
                <a:arcTo wR="144760" hR="144760" stAng="0" swAng="5400000"/>
                <a:lnTo>
                  <a:pt x="144760" y="289520"/>
                </a:lnTo>
                <a:arcTo wR="144760" hR="144760" stAng="5400000" swAng="5400000"/>
                <a:lnTo>
                  <a:pt x="0" y="144760"/>
                </a:lnTo>
                <a:arcTo wR="144760" hR="144760" stAng="10800000" swAng="5400000"/>
                <a:close/>
              </a:path>
            </a:pathLst>
          </a:custGeom>
          <a:solidFill>
            <a:srgbClr val="D97706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Aanchal Chand Thakuri · Frontend &amp; Accessibility Auditor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16520" y="6250980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Contribution ·4 /8</a:t>
            </a:r>
            <a:endParaRPr lang="en-US" sz="12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7272467-1A6B-9B34-5144-6F4EA8183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0783" y="4192898"/>
            <a:ext cx="4838234" cy="13243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779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rPr lang="en-US" sz="2700" b="1" i="0" dirty="0">
                <a:solidFill>
                  <a:srgbClr val="FAF8F5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Individual Contribution: Aditya Kumar Gupta (@notyouradhee)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65997" y="1950465"/>
            <a:ext cx="4663440" cy="4046273"/>
          </a:xfrm>
          <a:prstGeom prst="roundRect">
            <a:avLst>
              <a:gd name="adj" fmla="val 2511"/>
            </a:avLst>
          </a:prstGeom>
          <a:solidFill>
            <a:srgbClr val="261E19"/>
          </a:solidFill>
          <a:ln/>
        </p:spPr>
      </p:sp>
      <p:sp>
        <p:nvSpPr>
          <p:cNvPr id="4" name="Text 2"/>
          <p:cNvSpPr/>
          <p:nvPr/>
        </p:nvSpPr>
        <p:spPr>
          <a:xfrm>
            <a:off x="1482344" y="2197956"/>
            <a:ext cx="491845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CONCRETE CONTRIBUTIONS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00430" y="2571269"/>
            <a:ext cx="4216400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Architected the full-stack vertical slice: Next.js 16, Django REST Framework, Neon PostgreSQL.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00430" y="3245490"/>
            <a:ext cx="4918456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/origins to /checkout state sync via URL parameters, preventing loss on reload.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00430" y="4080070"/>
            <a:ext cx="4918456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the production app on Vercel over HTTPS.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00430" y="4734574"/>
            <a:ext cx="3972560" cy="9000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the customer dashboard, admin console and the simulated payment boundary (is_fake_payment=True).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589520" y="2102327"/>
            <a:ext cx="491845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EVIDENCE &amp; PROOF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73114" y="2484138"/>
            <a:ext cx="4918456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Issue:</a:t>
            </a:r>
            <a:r>
              <a:rPr lang="en-US" sz="125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#43 “Feature: Coffee Origin Selection Page”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389135" y="2927587"/>
            <a:ext cx="4918456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request:</a:t>
            </a:r>
            <a:r>
              <a:rPr lang="en-US" sz="125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#44 “feat: origin selection flow with query-param checkout integration”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5880" y="3545920"/>
            <a:ext cx="4918456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Commit:</a:t>
            </a:r>
            <a:r>
              <a:rPr lang="en-US" sz="125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30081cc “connect origin selection to checkout state”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5880" y="3910530"/>
            <a:ext cx="4918456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Receipt:</a:t>
            </a:r>
            <a:r>
              <a:rPr lang="en-US" sz="125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docs/week-07/receipts/receipt-aditya.md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12800" y="6238280"/>
            <a:ext cx="3725995" cy="289520"/>
          </a:xfrm>
          <a:custGeom>
            <a:avLst/>
            <a:gdLst/>
            <a:ahLst/>
            <a:cxnLst/>
            <a:rect l="l" t="t" r="r" b="b"/>
            <a:pathLst>
              <a:path w="3725995" h="289520">
                <a:moveTo>
                  <a:pt x="144760" y="0"/>
                </a:moveTo>
                <a:lnTo>
                  <a:pt x="3581235" y="0"/>
                </a:lnTo>
                <a:arcTo wR="144760" hR="144760" stAng="16200000" swAng="5400000"/>
                <a:lnTo>
                  <a:pt x="3725995" y="144760"/>
                </a:lnTo>
                <a:arcTo wR="144760" hR="144760" stAng="0" swAng="5400000"/>
                <a:lnTo>
                  <a:pt x="144760" y="289520"/>
                </a:lnTo>
                <a:arcTo wR="144760" hR="144760" stAng="5400000" swAng="5400000"/>
                <a:lnTo>
                  <a:pt x="0" y="144760"/>
                </a:lnTo>
                <a:arcTo wR="144760" hR="144760" stAng="10800000" swAng="5400000"/>
                <a:close/>
              </a:path>
            </a:pathLst>
          </a:custGeom>
          <a:solidFill>
            <a:srgbClr val="D97706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Aditya Kumar Gupta · Project Lead &amp; Full-Stack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16520" y="6250980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Contribution · 5/8</a:t>
            </a:r>
            <a:endParaRPr lang="en-US" sz="12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DA77F0A-E912-F17A-04A6-622101A7F5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4947920"/>
            <a:ext cx="4582160" cy="99696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A68E56DF-C104-9E48-FBD4-6F369E8EDC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4440545"/>
            <a:ext cx="4578585" cy="41912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02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rPr lang="en-US" sz="2700" b="1" i="0" dirty="0">
                <a:solidFill>
                  <a:srgbClr val="1A1512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Individual Contribution: Kushan </a:t>
            </a:r>
            <a:r>
              <a:rPr lang="en-US" b="1" dirty="0">
                <a:solidFill>
                  <a:srgbClr val="1A1512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Sunuwar</a:t>
            </a:r>
            <a:r>
              <a:rPr lang="en-US" sz="2700" b="1" i="0" dirty="0">
                <a:solidFill>
                  <a:srgbClr val="1A1512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(@Kushan2191)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815975" y="1421740"/>
            <a:ext cx="5175250" cy="4417087"/>
          </a:xfrm>
          <a:prstGeom prst="roundRect">
            <a:avLst>
              <a:gd name="adj" fmla="val 2228"/>
            </a:avLst>
          </a:prstGeom>
          <a:solidFill>
            <a:srgbClr val="FFFFFF"/>
          </a:solidFill>
          <a:ln w="6350">
            <a:solidFill>
              <a:srgbClr val="E7E1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944793" y="1786634"/>
            <a:ext cx="49097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A3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CONCRETE CONTRIBUTIONS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28363" y="2405995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 an independent clean-clone test on separate hardware, with no author coaching.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20231" y="3076813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Reviewed PR #44, verified parameter behavior and merged it (merge commit 9d45f95).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20232" y="3785275"/>
            <a:ext cx="4909735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Tested the empty-cart edge case: opening /checkout with no parameters shows a “Your Cart is Empty” card with a “Build Your Plan” button instead of crashing.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53903" y="1421739"/>
            <a:ext cx="5175250" cy="4417087"/>
          </a:xfrm>
          <a:prstGeom prst="roundRect">
            <a:avLst>
              <a:gd name="adj" fmla="val 2228"/>
            </a:avLst>
          </a:prstGeom>
          <a:solidFill>
            <a:srgbClr val="FFFFFF"/>
          </a:solidFill>
          <a:ln w="6350">
            <a:solidFill>
              <a:srgbClr val="E7E1D8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7523480" y="1719647"/>
            <a:ext cx="49097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A3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EVIDENCE &amp; PROOF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85768" y="2158474"/>
            <a:ext cx="490973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 commit:</a:t>
            </a:r>
            <a:r>
              <a:rPr lang="en-US" sz="125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9d45f95 “Merge pull request #44 from CapstoneDesign-Fall2026-UlsanCollege/feature/origin-selection”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385769" y="2668429"/>
            <a:ext cx="490973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note:</a:t>
            </a:r>
            <a:r>
              <a:rPr lang="en-US" sz="125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docs/week-06/tested-by-note.md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5033" y="3080583"/>
            <a:ext cx="490973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case commit:</a:t>
            </a:r>
            <a:r>
              <a:rPr lang="en-US" sz="125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f69700e “add defensive empty cart fallback”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385770" y="3490996"/>
            <a:ext cx="490973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Receipt:</a:t>
            </a:r>
            <a:r>
              <a:rPr lang="en-US" sz="125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docs/week-07/receipts/receipt-kushan.md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12800" y="6238280"/>
            <a:ext cx="3491839" cy="289520"/>
          </a:xfrm>
          <a:custGeom>
            <a:avLst/>
            <a:gdLst/>
            <a:ahLst/>
            <a:cxnLst/>
            <a:rect l="l" t="t" r="r" b="b"/>
            <a:pathLst>
              <a:path w="3491839" h="289520">
                <a:moveTo>
                  <a:pt x="144760" y="0"/>
                </a:moveTo>
                <a:lnTo>
                  <a:pt x="3347079" y="0"/>
                </a:lnTo>
                <a:arcTo wR="144760" hR="144760" stAng="16200000" swAng="5400000"/>
                <a:lnTo>
                  <a:pt x="3491839" y="144760"/>
                </a:lnTo>
                <a:arcTo wR="144760" hR="144760" stAng="0" swAng="5400000"/>
                <a:lnTo>
                  <a:pt x="144760" y="289520"/>
                </a:lnTo>
                <a:arcTo wR="144760" hR="144760" stAng="5400000" swAng="5400000"/>
                <a:lnTo>
                  <a:pt x="0" y="144760"/>
                </a:lnTo>
                <a:arcTo wR="144760" hR="144760" stAng="10800000" swAng="5400000"/>
                <a:close/>
              </a:path>
            </a:pathLst>
          </a:custGeom>
          <a:solidFill>
            <a:srgbClr val="D97706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Kushan Sunuwar · QA Lead &amp; Code Reviewer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16520" y="6250980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Contribution · 6/8</a:t>
            </a:r>
            <a:endParaRPr lang="en-US" sz="12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F0D17F5-D044-F404-2443-877B5FDB92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771" y="3901084"/>
            <a:ext cx="4911514" cy="177827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779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rPr lang="en-US" sz="2700" b="1" i="0" dirty="0">
                <a:solidFill>
                  <a:srgbClr val="FAF8F5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Individual Contribution: Rohit </a:t>
            </a:r>
            <a:r>
              <a:rPr lang="en-US" sz="2700" b="1" i="0" dirty="0" err="1">
                <a:solidFill>
                  <a:srgbClr val="FAF8F5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C</a:t>
            </a:r>
            <a:r>
              <a:rPr lang="en-US" b="1" dirty="0" err="1">
                <a:latin typeface="Georgia" pitchFamily="18" charset="0"/>
                <a:ea typeface="Georgia" pitchFamily="18" charset="-122"/>
                <a:cs typeface="Georgia" pitchFamily="18" charset="-120"/>
              </a:rPr>
              <a:t>hantiyal</a:t>
            </a:r>
            <a:r>
              <a:rPr lang="en-US" sz="2700" b="1" i="0" dirty="0">
                <a:solidFill>
                  <a:srgbClr val="FAF8F5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(@Rohit-coder201)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822960" y="1795729"/>
            <a:ext cx="5181600" cy="4046273"/>
          </a:xfrm>
          <a:prstGeom prst="roundRect">
            <a:avLst>
              <a:gd name="adj" fmla="val 2511"/>
            </a:avLst>
          </a:prstGeom>
          <a:solidFill>
            <a:srgbClr val="261E19"/>
          </a:solidFill>
          <a:ln/>
        </p:spPr>
      </p:sp>
      <p:sp>
        <p:nvSpPr>
          <p:cNvPr id="4" name="Text 2"/>
          <p:cNvSpPr/>
          <p:nvPr/>
        </p:nvSpPr>
        <p:spPr>
          <a:xfrm>
            <a:off x="2206964" y="2110607"/>
            <a:ext cx="491845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CONCRETE CONTRIBUTIONS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16000" y="2735064"/>
            <a:ext cx="4918456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 backend outage testing: stopped the Django server and verified the frontend handles the dropped connection with an explicit alert.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000" y="3862916"/>
            <a:ext cx="4918456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Wrote repeatable curl smoke-test commands in the README for continuous health checks.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16000" y="4554919"/>
            <a:ext cx="4918456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 Sprint 1 Quality Quick Checks confirming zero secrets and safe demo data.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7600" y="1795729"/>
            <a:ext cx="5181600" cy="4046273"/>
          </a:xfrm>
          <a:prstGeom prst="roundRect">
            <a:avLst>
              <a:gd name="adj" fmla="val 2511"/>
            </a:avLst>
          </a:prstGeom>
          <a:solidFill>
            <a:srgbClr val="261E19"/>
          </a:solidFill>
          <a:ln/>
        </p:spPr>
      </p:sp>
      <p:sp>
        <p:nvSpPr>
          <p:cNvPr id="9" name="Text 7"/>
          <p:cNvSpPr/>
          <p:nvPr/>
        </p:nvSpPr>
        <p:spPr>
          <a:xfrm>
            <a:off x="7538720" y="2062429"/>
            <a:ext cx="491845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EVIDENCE &amp; PROOF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0" y="2413931"/>
            <a:ext cx="4918456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Outage test record:</a:t>
            </a:r>
            <a:r>
              <a:rPr lang="en-US" sz="125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docs/week-06/api-smoke-test-record.md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0" y="2693700"/>
            <a:ext cx="4918456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 section:</a:t>
            </a:r>
            <a:r>
              <a:rPr lang="en-US" sz="125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README.md#smoke-testing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0" y="3054684"/>
            <a:ext cx="4918456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checks:</a:t>
            </a:r>
            <a:r>
              <a:rPr lang="en-US" sz="125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docs/week-07/sprint-1-quality-quick-checks.md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0" y="3409887"/>
            <a:ext cx="4918456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Receipt:</a:t>
            </a:r>
            <a:r>
              <a:rPr lang="en-US" sz="125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docs/week-07/receipts/receipt-rohit.md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12800" y="6238280"/>
            <a:ext cx="3853392" cy="289520"/>
          </a:xfrm>
          <a:custGeom>
            <a:avLst/>
            <a:gdLst/>
            <a:ahLst/>
            <a:cxnLst/>
            <a:rect l="l" t="t" r="r" b="b"/>
            <a:pathLst>
              <a:path w="3853392" h="289520">
                <a:moveTo>
                  <a:pt x="144760" y="0"/>
                </a:moveTo>
                <a:lnTo>
                  <a:pt x="3708632" y="0"/>
                </a:lnTo>
                <a:arcTo wR="144760" hR="144760" stAng="16200000" swAng="5400000"/>
                <a:lnTo>
                  <a:pt x="3853392" y="144760"/>
                </a:lnTo>
                <a:arcTo wR="144760" hR="144760" stAng="0" swAng="5400000"/>
                <a:lnTo>
                  <a:pt x="144760" y="289520"/>
                </a:lnTo>
                <a:arcTo wR="144760" hR="144760" stAng="5400000" swAng="5400000"/>
                <a:lnTo>
                  <a:pt x="0" y="144760"/>
                </a:lnTo>
                <a:arcTo wR="144760" hR="144760" stAng="10800000" swAng="5400000"/>
                <a:close/>
              </a:path>
            </a:pathLst>
          </a:custGeom>
          <a:solidFill>
            <a:srgbClr val="D97706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Rohit </a:t>
            </a:r>
            <a:r>
              <a:rPr lang="en-US" sz="1200" b="1" dirty="0" err="1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Chantiyal</a:t>
            </a:r>
            <a:r>
              <a:rPr lang="en-US" sz="12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DevOps &amp; Resilience Lead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16520" y="6250980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Contribution  7/8</a:t>
            </a:r>
            <a:endParaRPr lang="en-US" sz="12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C68D42C-5982-78C0-3C86-8883B24722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5355" y="3818865"/>
            <a:ext cx="4626090" cy="1943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02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rPr lang="en-US" sz="2700" b="1" i="0" dirty="0">
                <a:solidFill>
                  <a:srgbClr val="1A1512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Next Steps &amp; Sprint 2 Post-Midterm Roadmap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815975" y="1421743"/>
            <a:ext cx="5175250" cy="3921787"/>
          </a:xfrm>
          <a:prstGeom prst="roundRect">
            <a:avLst>
              <a:gd name="adj" fmla="val 2510"/>
            </a:avLst>
          </a:prstGeom>
          <a:solidFill>
            <a:srgbClr val="FFFFFF"/>
          </a:solidFill>
          <a:ln w="6350">
            <a:solidFill>
              <a:srgbClr val="E7E1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822873" y="2023761"/>
            <a:ext cx="49097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A3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REMAINS INCOMPLETE TODAY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20231" y="2559085"/>
            <a:ext cx="490973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Simulated payment gateway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0233" y="2871155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Checkout uses the mock flag is_fake_payment=True; real Khalti wallet sandbox deduction is pending.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20232" y="3763231"/>
            <a:ext cx="490973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transactional emails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20233" y="4114772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Orders are saved to PostgreSQL; automated dispatch emails via SMTP are in progress.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54496" y="1421743"/>
            <a:ext cx="5175250" cy="3921787"/>
          </a:xfrm>
          <a:prstGeom prst="roundRect">
            <a:avLst>
              <a:gd name="adj" fmla="val 2510"/>
            </a:avLst>
          </a:prstGeom>
          <a:solidFill>
            <a:srgbClr val="FFFFFF"/>
          </a:solidFill>
          <a:ln w="6350">
            <a:solidFill>
              <a:srgbClr val="E7E1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27433" y="2014007"/>
            <a:ext cx="49097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A3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2 ACTION PLAN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69465" y="2437265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Khalti Sandbox SDK:</a:t>
            </a:r>
            <a:r>
              <a:rPr lang="en-US" sz="130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replace the simulated modal with real test wallet credentials (NPR).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69465" y="3212254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Transactional email:</a:t>
            </a:r>
            <a:r>
              <a:rPr lang="en-US" sz="130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automate confirmation and courier tracking emails on order placement.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66290" y="3924102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Roastery operations portal:</a:t>
            </a:r>
            <a:r>
              <a:rPr lang="en-US" sz="130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expand backoffice fulfillment status workflows.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2800" y="557530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A3432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Thank you, Professor and classmates. We welcome any questions!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12800" y="6238280"/>
            <a:ext cx="3044494" cy="289520"/>
          </a:xfrm>
          <a:custGeom>
            <a:avLst/>
            <a:gdLst/>
            <a:ahLst/>
            <a:cxnLst/>
            <a:rect l="l" t="t" r="r" b="b"/>
            <a:pathLst>
              <a:path w="3044494" h="289520">
                <a:moveTo>
                  <a:pt x="144760" y="0"/>
                </a:moveTo>
                <a:lnTo>
                  <a:pt x="2899734" y="0"/>
                </a:lnTo>
                <a:arcTo wR="144760" hR="144760" stAng="16200000" swAng="5400000"/>
                <a:lnTo>
                  <a:pt x="3044494" y="144760"/>
                </a:lnTo>
                <a:arcTo wR="144760" hR="144760" stAng="0" swAng="5400000"/>
                <a:lnTo>
                  <a:pt x="144760" y="289520"/>
                </a:lnTo>
                <a:arcTo wR="144760" hR="144760" stAng="5400000" swAng="5400000"/>
                <a:lnTo>
                  <a:pt x="0" y="144760"/>
                </a:lnTo>
                <a:arcTo wR="144760" hR="144760" stAng="10800000" swAng="5400000"/>
                <a:close/>
              </a:path>
            </a:pathLst>
          </a:custGeom>
          <a:solidFill>
            <a:srgbClr val="D97706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Aditya Kumar Gupta · @notyouradhee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16520" y="6250980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8/8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pstone Midterm: Himalayan Roast (8 slides)">
  <a:themeElements>
    <a:clrScheme name="Capstone Midterm: Himalayan Roast (8 slides)">
      <a:dk1>
        <a:srgbClr val="1A1512"/>
      </a:dk1>
      <a:lt1>
        <a:srgbClr val="FAF8F5"/>
      </a:lt1>
      <a:dk2>
        <a:srgbClr val="302C29"/>
      </a:dk2>
      <a:lt2>
        <a:srgbClr val="C2BFBC"/>
      </a:lt2>
      <a:accent1>
        <a:srgbClr val="D97706"/>
      </a:accent1>
      <a:accent2>
        <a:srgbClr val="64748B"/>
      </a:accent2>
      <a:accent3>
        <a:srgbClr val="A3432A"/>
      </a:accent3>
      <a:accent4>
        <a:srgbClr val="C9BFB3"/>
      </a:accent4>
      <a:accent5>
        <a:srgbClr val="9AA0A6"/>
      </a:accent5>
      <a:accent6>
        <a:srgbClr val="A09D9A"/>
      </a:accent6>
      <a:hlink>
        <a:srgbClr val="0563C1"/>
      </a:hlink>
      <a:folHlink>
        <a:srgbClr val="954F72"/>
      </a:folHlink>
    </a:clrScheme>
    <a:fontScheme name="Capstone Midterm: Himalayan Roast (8 slides)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1667</TotalTime>
  <Words>1048</Words>
  <Application>Microsoft Office PowerPoint</Application>
  <PresentationFormat>Widescreen</PresentationFormat>
  <Paragraphs>127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Georgia</vt:lpstr>
      <vt:lpstr>Capstone Midterm: Himalayan Roast (8 slides)</vt:lpstr>
      <vt:lpstr>BrewMellow.</vt:lpstr>
      <vt:lpstr>The User &amp; The Specialty Coffee Problem</vt:lpstr>
      <vt:lpstr>Scope of this Demo &amp; Full-Stack Architecture</vt:lpstr>
      <vt:lpstr>Live Walkthrough: The Verified Vertical Slice</vt:lpstr>
      <vt:lpstr>Individual Contribution: Aanchal Chand Thakuri (@jaasly07)</vt:lpstr>
      <vt:lpstr>Individual Contribution: Aditya Kumar Gupta (@notyouradhee)</vt:lpstr>
      <vt:lpstr>Individual Contribution: Kushan Sunuwar (@Kushan2191)</vt:lpstr>
      <vt:lpstr>Individual Contribution: Rohit Chantiyal (@Rohit-coder201)</vt:lpstr>
      <vt:lpstr>Next Steps &amp; Sprint 2 Post-Midterm Roadmap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Capstone Midterm: Himalayan Roast (8 slides)</dc:title>
  <dc:subject/>
  <dc:creator/>
  <cp:lastModifiedBy>_not_your _adhee</cp:lastModifiedBy>
  <cp:revision>4</cp:revision>
  <dcterms:created xsi:type="dcterms:W3CDTF">2026-10-17T05:26:20Z</dcterms:created>
  <dcterms:modified xsi:type="dcterms:W3CDTF">2026-10-19T16:46:48Z</dcterms:modified>
</cp:coreProperties>
</file>