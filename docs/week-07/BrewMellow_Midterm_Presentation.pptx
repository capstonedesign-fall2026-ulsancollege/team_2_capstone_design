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84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83345"/>
            <a:ext cx="10566400" cy="4361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83345"/>
            <a:ext cx="10566400" cy="4361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CapstoneDesign-Fall2026-UlsanCollege/team_2_capstone_design" TargetMode="External"/><Relationship Id="rId4" Type="http://schemas.openxmlformats.org/officeDocument/2006/relationships/hyperlink" Target="https://team-2-capstone-design-one.vercel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80" y="513159"/>
            <a:ext cx="2667000" cy="502841"/>
          </a:xfrm>
          <a:custGeom>
            <a:avLst/>
            <a:gdLst/>
            <a:ahLst/>
            <a:cxnLst/>
            <a:rect l="l" t="t" r="r" b="b"/>
            <a:pathLst>
              <a:path w="2667000" h="502841">
                <a:moveTo>
                  <a:pt x="152400" y="0"/>
                </a:moveTo>
                <a:lnTo>
                  <a:pt x="2514600" y="0"/>
                </a:lnTo>
                <a:arcTo wR="152400" hR="152400" stAng="16200000" swAng="5400000"/>
                <a:lnTo>
                  <a:pt x="2667000" y="350441"/>
                </a:lnTo>
                <a:arcTo wR="152400" hR="152400" stAng="0" swAng="5400000"/>
                <a:lnTo>
                  <a:pt x="152400" y="502841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square" lIns="139700" tIns="38100" rIns="68072" bIns="1270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DESIGN MIDTERM · TEAM -2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386080" y="1796792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BrewMellow</a:t>
            </a:r>
            <a:r>
              <a:rPr lang="en-US" sz="6000" b="1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83159" y="2568842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Nepali specialty coffee, roasted to order and delivered fresh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" y="4955580"/>
            <a:ext cx="2527300" cy="886420"/>
          </a:xfrm>
          <a:prstGeom prst="roundRect">
            <a:avLst>
              <a:gd name="adj" fmla="val 11462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12800" y="4955580"/>
            <a:ext cx="2527300" cy="886420"/>
          </a:xfrm>
          <a:custGeom>
            <a:avLst/>
            <a:gdLst/>
            <a:ahLst/>
            <a:cxnLst/>
            <a:rect l="l" t="t" r="r" b="b"/>
            <a:pathLst>
              <a:path w="2527300" h="8864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0600" y="5171480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t>Aanchal Chand Thakuri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0600" y="5450880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@jaasly07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2500" y="4955580"/>
            <a:ext cx="2527300" cy="886420"/>
          </a:xfrm>
          <a:prstGeom prst="roundRect">
            <a:avLst>
              <a:gd name="adj" fmla="val 11462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92500" y="4955580"/>
            <a:ext cx="2527300" cy="886420"/>
          </a:xfrm>
          <a:custGeom>
            <a:avLst/>
            <a:gdLst/>
            <a:ahLst/>
            <a:cxnLst/>
            <a:rect l="l" t="t" r="r" b="b"/>
            <a:pathLst>
              <a:path w="2527300" h="8864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70300" y="5171480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Kumar Gupta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0300" y="5450880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@notyouradhee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4955580"/>
            <a:ext cx="2527300" cy="886420"/>
          </a:xfrm>
          <a:prstGeom prst="roundRect">
            <a:avLst>
              <a:gd name="adj" fmla="val 11462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955580"/>
            <a:ext cx="2527300" cy="886420"/>
          </a:xfrm>
          <a:custGeom>
            <a:avLst/>
            <a:gdLst/>
            <a:ahLst/>
            <a:cxnLst/>
            <a:rect l="l" t="t" r="r" b="b"/>
            <a:pathLst>
              <a:path w="2527300" h="8864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0000" y="5171480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Kushan </a:t>
            </a:r>
            <a:r>
              <a:rPr lang="en-US" sz="1500" b="1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Sunuwar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0000" y="5450880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@Kushan2191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51900" y="4955580"/>
            <a:ext cx="2527300" cy="886420"/>
          </a:xfrm>
          <a:prstGeom prst="roundRect">
            <a:avLst>
              <a:gd name="adj" fmla="val 11462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851900" y="4955580"/>
            <a:ext cx="2527300" cy="886420"/>
          </a:xfrm>
          <a:custGeom>
            <a:avLst/>
            <a:gdLst/>
            <a:ahLst/>
            <a:cxnLst/>
            <a:rect l="l" t="t" r="r" b="b"/>
            <a:pathLst>
              <a:path w="2527300" h="8864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29700" y="5171480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</a:t>
            </a:r>
            <a:r>
              <a:rPr lang="en-US" sz="1500" b="1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Chhantyal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29700" y="5450880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@Rohit-coder201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8AF675-084A-CB29-7078-9900101A4C77}"/>
              </a:ext>
            </a:extLst>
          </p:cNvPr>
          <p:cNvSpPr txBox="1"/>
          <p:nvPr/>
        </p:nvSpPr>
        <p:spPr>
          <a:xfrm>
            <a:off x="383159" y="3257015"/>
            <a:ext cx="8039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/>
              <a:t>github</a:t>
            </a:r>
            <a:r>
              <a:rPr lang="en-IN" sz="1400" dirty="0"/>
              <a:t> Link :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3"/>
              </a:rPr>
              <a:t>https://github.com/CapstoneDesign-Fall2026-UlsanCollege/team_2_capstone_design</a:t>
            </a:r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1400" dirty="0"/>
              <a:t>Live Demo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4"/>
              </a:rPr>
              <a:t>https://team-2-capstone-design-one.vercel.app</a:t>
            </a:r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FAF8F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User &amp; The Specialty Coffee Problem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1336" y="1418563"/>
            <a:ext cx="4747485" cy="4423437"/>
          </a:xfrm>
          <a:prstGeom prst="roundRect">
            <a:avLst>
              <a:gd name="adj" fmla="val 2297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783178" y="1720520"/>
            <a:ext cx="44713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USER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7503" y="2401160"/>
            <a:ext cx="447131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AF8F5"/>
                </a:solidFill>
                <a:ea typeface="Georgia" pitchFamily="18" charset="-122"/>
                <a:cs typeface="Georgia" pitchFamily="18" charset="-120"/>
              </a:rPr>
              <a:t>Specialty coffee enthusiasts and home-brewers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7503" y="3141663"/>
            <a:ext cx="447131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Nepal and the diaspora.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5860" y="3767739"/>
            <a:ext cx="4471318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seek single-origin Himalayan beans with distinct elevations and processing methods (Washed, Natural, Honey) for manual brewing: V60, Aeropress, French Press.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3485" y="1418564"/>
            <a:ext cx="5615715" cy="4423437"/>
          </a:xfrm>
          <a:prstGeom prst="roundRect">
            <a:avLst>
              <a:gd name="adj" fmla="val 2297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56338" y="1680614"/>
            <a:ext cx="53655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13605" y="2384584"/>
            <a:ext cx="536559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transparency in retail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13605" y="2721571"/>
            <a:ext cx="5365595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Kathmandu supermarket coffee is stale, dark-roasted commercial blend with no harvest altitude, processing method or roast date.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66685" y="3854318"/>
            <a:ext cx="536559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Inaccessible micro-lots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6685" y="4160005"/>
            <a:ext cx="5365595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beans from Gulmi, Ilam and Nuwakot are mostly exported. Locals have no direct platform for fresh roast-to-order subscriptions.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334154" cy="289520"/>
          </a:xfrm>
          <a:custGeom>
            <a:avLst/>
            <a:gdLst/>
            <a:ahLst/>
            <a:cxnLst/>
            <a:rect l="l" t="t" r="r" b="b"/>
            <a:pathLst>
              <a:path w="2334154" h="289520">
                <a:moveTo>
                  <a:pt x="144760" y="0"/>
                </a:moveTo>
                <a:lnTo>
                  <a:pt x="2189394" y="0"/>
                </a:lnTo>
                <a:arcTo wR="144760" hR="144760" stAng="16200000" swAng="5400000"/>
                <a:lnTo>
                  <a:pt x="2334154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t>Aanchal Chand Thakuri · @jaasly07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1/8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Scope of this Demo &amp; Full-Stack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222" y="1518278"/>
            <a:ext cx="5175250" cy="4417087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13339" y="1837433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0233" y="2487943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811347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(React 19) + Tailwind CSS, live on Vercel over HTTPS.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0233" y="3407562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979" y="3726821"/>
            <a:ext cx="490973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5.1 REST Framework for orders and data models.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0233" y="4323725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0233" y="4649888"/>
            <a:ext cx="490973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PostgreSQL cluster on Neon.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1363" y="1468232"/>
            <a:ext cx="5175250" cy="4417087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8217" y="1812608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SCOPE BOUNDARY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4043" y="2458331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verified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0838" y="2792117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 from browsing origins to checkout state sync, database records, customer dashboard and roastery backoffice.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5031" y="3807982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simulated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5032" y="4204197"/>
            <a:ext cx="4909735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is flagged </a:t>
            </a: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is_fake_payment=True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real cards or Khalti balances are charged; real orders are still saved and tracked.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3044494" cy="289520"/>
          </a:xfrm>
          <a:custGeom>
            <a:avLst/>
            <a:gdLst/>
            <a:ahLst/>
            <a:cxnLst/>
            <a:rect l="l" t="t" r="r" b="b"/>
            <a:pathLst>
              <a:path w="3044494" h="289520">
                <a:moveTo>
                  <a:pt x="144760" y="0"/>
                </a:moveTo>
                <a:lnTo>
                  <a:pt x="2899734" y="0"/>
                </a:lnTo>
                <a:arcTo wR="144760" hR="144760" stAng="16200000" swAng="5400000"/>
                <a:lnTo>
                  <a:pt x="3044494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Kumar Gupta · @notyouradhee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2/8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FAF8F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Live Walkthrough: The Verified Vertical Slice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12800" y="141856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 team-2-capstone-design-one.vercel.app/origins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0799" y="2123482"/>
            <a:ext cx="2546350" cy="3315953"/>
          </a:xfrm>
          <a:prstGeom prst="roundRect">
            <a:avLst>
              <a:gd name="adj" fmla="val 3990"/>
            </a:avLst>
          </a:prstGeom>
          <a:solidFill>
            <a:srgbClr val="261E19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303026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1 · /ORIGINS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0101" y="2983032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origins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998" y="3802812"/>
            <a:ext cx="2204149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micro-lots: Gulmi Reserve (1,600m), Ilam Gold (1,800m), Nuwakot Heritage (1,400m).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148" y="2123482"/>
            <a:ext cx="2546350" cy="3315953"/>
          </a:xfrm>
          <a:prstGeom prst="roundRect">
            <a:avLst>
              <a:gd name="adj" fmla="val 3990"/>
            </a:avLst>
          </a:prstGeom>
          <a:solidFill>
            <a:srgbClr val="261E19"/>
          </a:solidFill>
          <a:ln/>
        </p:spPr>
      </p:sp>
      <p:sp>
        <p:nvSpPr>
          <p:cNvPr id="9" name="Text 7"/>
          <p:cNvSpPr/>
          <p:nvPr/>
        </p:nvSpPr>
        <p:spPr>
          <a:xfrm>
            <a:off x="3689350" y="2303026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2 · /CHECKOUT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8351" y="2962196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synchronization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6349" y="3770643"/>
            <a:ext cx="22041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Gulmi Reserve passes parameters in the URL query string; total Rs. 1,200 recalculates with no state loss.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59500" y="2101852"/>
            <a:ext cx="2546350" cy="3337583"/>
          </a:xfrm>
          <a:prstGeom prst="roundRect">
            <a:avLst>
              <a:gd name="adj" fmla="val 3990"/>
            </a:avLst>
          </a:prstGeom>
          <a:solidFill>
            <a:srgbClr val="261E19"/>
          </a:solidFill>
          <a:ln/>
        </p:spPr>
      </p:sp>
      <p:sp>
        <p:nvSpPr>
          <p:cNvPr id="13" name="Text 11"/>
          <p:cNvSpPr/>
          <p:nvPr/>
        </p:nvSpPr>
        <p:spPr>
          <a:xfrm>
            <a:off x="6640703" y="2334140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POST /API/ORDERS/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01701" y="2950131"/>
            <a:ext cx="220414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&amp; order record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5501" y="3695656"/>
            <a:ext cx="2204149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an order row to PostgreSQL and opens the 2.0s simulated confirmation modal.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32850" y="2101852"/>
            <a:ext cx="2546350" cy="3337583"/>
          </a:xfrm>
          <a:prstGeom prst="roundRect">
            <a:avLst>
              <a:gd name="adj" fmla="val 3990"/>
            </a:avLst>
          </a:prstGeom>
          <a:solidFill>
            <a:srgbClr val="261E19"/>
          </a:solidFill>
          <a:ln/>
        </p:spPr>
      </p:sp>
      <p:sp>
        <p:nvSpPr>
          <p:cNvPr id="17" name="Text 15"/>
          <p:cNvSpPr/>
          <p:nvPr/>
        </p:nvSpPr>
        <p:spPr>
          <a:xfrm>
            <a:off x="9048051" y="2320055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/DASHBOARD · /ADMIN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48051" y="2916056"/>
            <a:ext cx="22041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Post-purchase hubs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48051" y="3687945"/>
            <a:ext cx="22041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tracking (Confirmed → Roasting → Dispatched → Delivered); admin shows Rs. 22,150 revenue and roasting queues.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3044494" cy="289520"/>
          </a:xfrm>
          <a:custGeom>
            <a:avLst/>
            <a:gdLst/>
            <a:ahLst/>
            <a:cxnLst/>
            <a:rect l="l" t="t" r="r" b="b"/>
            <a:pathLst>
              <a:path w="3044494" h="289520">
                <a:moveTo>
                  <a:pt x="144760" y="0"/>
                </a:moveTo>
                <a:lnTo>
                  <a:pt x="2899734" y="0"/>
                </a:lnTo>
                <a:arcTo wR="144760" hR="144760" stAng="16200000" swAng="5400000"/>
                <a:lnTo>
                  <a:pt x="3044494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Kumar Gupta · @notyouradhee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3/8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575932"/>
            <a:ext cx="10883392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Individual Contribution: Aanchal </a:t>
            </a:r>
            <a:r>
              <a:rPr lang="en-US" b="1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Chand Thakuri</a:t>
            </a:r>
            <a:r>
              <a:rPr lang="en-US" sz="2700" b="1" i="0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(@jaasly07)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90626" y="1421739"/>
            <a:ext cx="5175250" cy="4417087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831256" y="2041050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CONTRIBUTIONS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8732" y="2629104"/>
            <a:ext cx="437091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the target user persona and the specialty coffee retail transparency problem.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8732" y="3421039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the vertical slice at a 390px mobile viewport against WCAG 2.1 AA.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8733" y="4335373"/>
            <a:ext cx="490973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all CTA buttons give a 52px thumb target (py-3 px-6).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275" y="1421740"/>
            <a:ext cx="5175250" cy="4417087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97225" y="1981390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EVIDENCE &amp; PROOF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9465" y="2558454"/>
            <a:ext cx="49097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b="1" dirty="0">
                <a:solidFill>
                  <a:srgbClr val="1A1512"/>
                </a:solidFill>
                <a:ea typeface="Arial" pitchFamily="34" charset="-122"/>
                <a:cs typeface="Arial" pitchFamily="34" charset="-120"/>
              </a:rPr>
              <a:t>Commit </a:t>
            </a:r>
            <a:r>
              <a:rPr lang="en-US" sz="1400" dirty="0">
                <a:solidFill>
                  <a:srgbClr val="1A1512"/>
                </a:solidFill>
                <a:ea typeface="Arial" pitchFamily="34" charset="-122"/>
                <a:cs typeface="Arial" pitchFamily="34" charset="-120"/>
              </a:rPr>
              <a:t>ca35b07</a:t>
            </a:r>
            <a:r>
              <a:rPr lang="en-US" sz="1400" b="1" dirty="0">
                <a:solidFill>
                  <a:srgbClr val="1A1512"/>
                </a:solidFill>
                <a:ea typeface="Arial" pitchFamily="34" charset="-122"/>
                <a:cs typeface="Arial" pitchFamily="34" charset="-120"/>
              </a:rPr>
              <a:t>:</a:t>
            </a:r>
            <a:r>
              <a:rPr lang="en-IN" sz="1400" dirty="0">
                <a:solidFill>
                  <a:schemeClr val="bg1"/>
                </a:solidFill>
              </a:rPr>
              <a:t>docs(</a:t>
            </a:r>
            <a:r>
              <a:rPr lang="en-IN" sz="1400" dirty="0" err="1">
                <a:solidFill>
                  <a:schemeClr val="bg1"/>
                </a:solidFill>
              </a:rPr>
              <a:t>ui</a:t>
            </a:r>
            <a:r>
              <a:rPr lang="en-IN" sz="1400" dirty="0">
                <a:solidFill>
                  <a:schemeClr val="bg1"/>
                </a:solidFill>
              </a:rPr>
              <a:t>): record accessibility and mobile responsiveness check for checkout</a:t>
            </a:r>
            <a:r>
              <a:rPr lang="en-US" sz="14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”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69464" y="3220773"/>
            <a:ext cx="49097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record:</a:t>
            </a:r>
            <a:r>
              <a:rPr lang="en-US" sz="125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docs/week-06/accessibility-and-mobile-check.md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69465" y="3660355"/>
            <a:ext cx="49097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Receipt:</a:t>
            </a:r>
            <a:r>
              <a:rPr lang="en-US" sz="125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docs/week-07/receipts/receipt-aanchal.md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2800" y="6250980"/>
            <a:ext cx="4297680" cy="276820"/>
          </a:xfrm>
          <a:custGeom>
            <a:avLst/>
            <a:gdLst/>
            <a:ahLst/>
            <a:cxnLst/>
            <a:rect l="l" t="t" r="r" b="b"/>
            <a:pathLst>
              <a:path w="3951883" h="289520">
                <a:moveTo>
                  <a:pt x="144760" y="0"/>
                </a:moveTo>
                <a:lnTo>
                  <a:pt x="3807123" y="0"/>
                </a:lnTo>
                <a:arcTo wR="144760" hR="144760" stAng="16200000" swAng="5400000"/>
                <a:lnTo>
                  <a:pt x="3951883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Aanchal Chand Thakuri · Frontend &amp; Accessibility Auditor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·4 /8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272467-1A6B-9B34-5144-6F4EA8183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783" y="4192898"/>
            <a:ext cx="4838234" cy="1324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77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FAF8F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Individual Contribution: Aditya Kumar Gupta (@notyouradhee)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65997" y="1950465"/>
            <a:ext cx="4663440" cy="4046273"/>
          </a:xfrm>
          <a:prstGeom prst="roundRect">
            <a:avLst>
              <a:gd name="adj" fmla="val 2511"/>
            </a:avLst>
          </a:prstGeom>
          <a:solidFill>
            <a:srgbClr val="261E19"/>
          </a:solidFill>
          <a:ln/>
        </p:spPr>
      </p:sp>
      <p:sp>
        <p:nvSpPr>
          <p:cNvPr id="4" name="Text 2"/>
          <p:cNvSpPr/>
          <p:nvPr/>
        </p:nvSpPr>
        <p:spPr>
          <a:xfrm>
            <a:off x="1482344" y="2197956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CONTRIBUTIONS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00430" y="2571269"/>
            <a:ext cx="421640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the full-stack vertical slice: Next.js 16, Django REST Framework, Neon PostgreSQL.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00430" y="3245490"/>
            <a:ext cx="491845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/origins to /checkout state sync via URL parameters, preventing loss on reload.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0430" y="4080070"/>
            <a:ext cx="49184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the production app on Vercel over HTTPS.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0430" y="4734574"/>
            <a:ext cx="3972560" cy="900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customer dashboard, admin console and the simulated payment boundary (is_fake_payment=True).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2102327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EVIDENCE &amp; PROOF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73114" y="2484138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#43 “Feature: Coffee Origin Selection Page”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9135" y="2927587"/>
            <a:ext cx="49184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#44 “feat: origin selection flow with query-param checkout integration”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5880" y="3545920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30081cc “connect origin selection to checkout state”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5880" y="3910530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docs/week-07/receipts/receipt-aditya.md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3725995" cy="289520"/>
          </a:xfrm>
          <a:custGeom>
            <a:avLst/>
            <a:gdLst/>
            <a:ahLst/>
            <a:cxnLst/>
            <a:rect l="l" t="t" r="r" b="b"/>
            <a:pathLst>
              <a:path w="3725995" h="289520">
                <a:moveTo>
                  <a:pt x="144760" y="0"/>
                </a:moveTo>
                <a:lnTo>
                  <a:pt x="3581235" y="0"/>
                </a:lnTo>
                <a:arcTo wR="144760" hR="144760" stAng="16200000" swAng="5400000"/>
                <a:lnTo>
                  <a:pt x="3725995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Kumar Gupta · Project Lead &amp; Full-Stack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· 5/8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A77F0A-E912-F17A-04A6-622101A7F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947920"/>
            <a:ext cx="4582160" cy="9969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8E56DF-C104-9E48-FBD4-6F369E8ED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440545"/>
            <a:ext cx="4578585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Individual Contribution: Kushan </a:t>
            </a:r>
            <a:r>
              <a:rPr lang="en-US" b="1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Sunuwar</a:t>
            </a:r>
            <a:r>
              <a:rPr lang="en-US" sz="2700" b="1" i="0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(@Kushan2191)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15975" y="1421740"/>
            <a:ext cx="5175250" cy="4417087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44793" y="1786634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CONTRIBUTIONS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8363" y="2405995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an independent clean-clone test on separate hardware, with no author coaching.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0231" y="3076813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PR #44, verified parameter behavior and merged it (merge commit 9d45f95).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0232" y="3785275"/>
            <a:ext cx="4909735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the empty-cart edge case: opening /checkout with no parameters shows a “Your Cart is Empty” card with a “Build Your Plan” button instead of crashing.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3903" y="1421739"/>
            <a:ext cx="5175250" cy="4417087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7523480" y="1719647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EVIDENCE &amp; PROOF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5768" y="2158474"/>
            <a:ext cx="49097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commit:</a:t>
            </a:r>
            <a:r>
              <a:rPr lang="en-US" sz="125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9d45f95 “Merge pull request #44 from CapstoneDesign-Fall2026-UlsanCollege/feature/origin-selection”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85769" y="2668429"/>
            <a:ext cx="49097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note:</a:t>
            </a:r>
            <a:r>
              <a:rPr lang="en-US" sz="125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docs/week-06/tested-by-note.md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5033" y="3080583"/>
            <a:ext cx="49097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commit:</a:t>
            </a:r>
            <a:r>
              <a:rPr lang="en-US" sz="125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f69700e “add defensive empty cart fallback”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85770" y="3490996"/>
            <a:ext cx="49097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Receipt:</a:t>
            </a:r>
            <a:r>
              <a:rPr lang="en-US" sz="125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docs/week-07/receipts/receipt-kushan.md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3491839" cy="289520"/>
          </a:xfrm>
          <a:custGeom>
            <a:avLst/>
            <a:gdLst/>
            <a:ahLst/>
            <a:cxnLst/>
            <a:rect l="l" t="t" r="r" b="b"/>
            <a:pathLst>
              <a:path w="3491839" h="289520">
                <a:moveTo>
                  <a:pt x="144760" y="0"/>
                </a:moveTo>
                <a:lnTo>
                  <a:pt x="3347079" y="0"/>
                </a:lnTo>
                <a:arcTo wR="144760" hR="144760" stAng="16200000" swAng="5400000"/>
                <a:lnTo>
                  <a:pt x="3491839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Kushan Sunuwar · QA Lead &amp; Code Reviewer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· 6/8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0D17F5-D044-F404-2443-877B5FDB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771" y="3901084"/>
            <a:ext cx="4911514" cy="1778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77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t>Individual Contribution: Rohit Chhantyal (@Rohit-coder201)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795729"/>
            <a:ext cx="5181600" cy="4046273"/>
          </a:xfrm>
          <a:prstGeom prst="roundRect">
            <a:avLst>
              <a:gd name="adj" fmla="val 2511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06964" y="2110607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CONTRIBUTIONS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2735064"/>
            <a:ext cx="491845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backend outage testing: stopped the Django server and verified the frontend handles the dropped connection with an explicit alert.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3862916"/>
            <a:ext cx="491845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repeatable curl smoke-test commands in the README for continuous health checks.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6000" y="4554919"/>
            <a:ext cx="491845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Sprint 1 Quality Quick Checks confirming zero secrets and safe demo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7600" y="1795729"/>
            <a:ext cx="5181600" cy="4046273"/>
          </a:xfrm>
          <a:prstGeom prst="roundRect">
            <a:avLst>
              <a:gd name="adj" fmla="val 2511"/>
            </a:avLst>
          </a:prstGeom>
          <a:solidFill>
            <a:srgbClr val="261E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38720" y="2062429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EVIDENCE &amp; PROOF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413931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 test record: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docs/week-06/api-smoke-test-record.md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693700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section: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README.md#smoke-testing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3054684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docs/week-07/sprint-1-quality-quick-checks.md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409887"/>
            <a:ext cx="491845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Receipt:</a:t>
            </a:r>
            <a:r>
              <a:rPr lang="en-US" sz="125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docs/week-07/receipts/receipt-rohit.md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3853392" cy="289520"/>
          </a:xfrm>
          <a:custGeom>
            <a:avLst/>
            <a:gdLst/>
            <a:ahLst/>
            <a:cxnLst/>
            <a:rect l="l" t="t" r="r" b="b"/>
            <a:pathLst>
              <a:path w="3853392" h="289520">
                <a:moveTo>
                  <a:pt x="144760" y="0"/>
                </a:moveTo>
                <a:lnTo>
                  <a:pt x="3708632" y="0"/>
                </a:lnTo>
                <a:arcTo wR="144760" hR="144760" stAng="16200000" swAng="5400000"/>
                <a:lnTo>
                  <a:pt x="3853392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</a:t>
            </a:r>
            <a:r>
              <a:rPr lang="en-US" sz="1200" b="1" dirty="0" err="1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Chhantyal</a:t>
            </a: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DevOps &amp; Resilience Lead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 7/8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68D42C-5982-78C0-3C86-8883B2472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355" y="3818865"/>
            <a:ext cx="4626090" cy="19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A151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Next Steps &amp; Sprint 2 Post-Midterm Roadmap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15975" y="1421743"/>
            <a:ext cx="5175250" cy="3921787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2873" y="2023761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 INCOMPLETE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0231" y="2559085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payment gateway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871155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uses the mock flag is_fake_payment=True; real Khalti wallet sandbox deduction is pending.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0232" y="3763231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transactional emails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0233" y="4114772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are saved to PostgreSQL; automated dispatch emails via SMTP are in progress.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421743"/>
            <a:ext cx="5175250" cy="3921787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6350">
            <a:solidFill>
              <a:srgbClr val="E7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27433" y="2014007"/>
            <a:ext cx="490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ACTION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9465" y="2437265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Khalti Sandbox SDK:</a:t>
            </a: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replace the simulated modal with real test wallet credentials (NPR).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9465" y="3212254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Transactional email:</a:t>
            </a: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 confirmation and courier tracking emails on order placement.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6290" y="3924102"/>
            <a:ext cx="490973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Roastery operations portal:</a:t>
            </a:r>
            <a:r>
              <a:rPr lang="en-US" sz="1300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expand backoffice fulfillment status workflows.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343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Thank you, Professor and classmates. We welcome any questions!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3044494" cy="289520"/>
          </a:xfrm>
          <a:custGeom>
            <a:avLst/>
            <a:gdLst/>
            <a:ahLst/>
            <a:cxnLst/>
            <a:rect l="l" t="t" r="r" b="b"/>
            <a:pathLst>
              <a:path w="3044494" h="289520">
                <a:moveTo>
                  <a:pt x="144760" y="0"/>
                </a:moveTo>
                <a:lnTo>
                  <a:pt x="2899734" y="0"/>
                </a:lnTo>
                <a:arcTo wR="144760" hR="144760" stAng="16200000" swAng="5400000"/>
                <a:lnTo>
                  <a:pt x="3044494" y="144760"/>
                </a:lnTo>
                <a:arcTo wR="144760" hR="144760" stAng="0" swAng="5400000"/>
                <a:lnTo>
                  <a:pt x="144760" y="289520"/>
                </a:lnTo>
                <a:arcTo wR="144760" hR="144760" stAng="5400000" swAng="5400000"/>
                <a:lnTo>
                  <a:pt x="0" y="144760"/>
                </a:lnTo>
                <a:arcTo wR="144760" hR="144760" stAng="10800000" swAng="5400000"/>
                <a:close/>
              </a:path>
            </a:pathLst>
          </a:custGeom>
          <a:solidFill>
            <a:srgbClr val="D977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Kumar Gupta · @notyouradhee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16520" y="625098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8/8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idterm: Himalayan Roast (8 slides)">
  <a:themeElements>
    <a:clrScheme name="Capstone Midterm: Himalayan Roast (8 slides)">
      <a:dk1>
        <a:srgbClr val="1A1512"/>
      </a:dk1>
      <a:lt1>
        <a:srgbClr val="FAF8F5"/>
      </a:lt1>
      <a:dk2>
        <a:srgbClr val="302C29"/>
      </a:dk2>
      <a:lt2>
        <a:srgbClr val="C2BFBC"/>
      </a:lt2>
      <a:accent1>
        <a:srgbClr val="D97706"/>
      </a:accent1>
      <a:accent2>
        <a:srgbClr val="64748B"/>
      </a:accent2>
      <a:accent3>
        <a:srgbClr val="A3432A"/>
      </a:accent3>
      <a:accent4>
        <a:srgbClr val="C9BFB3"/>
      </a:accent4>
      <a:accent5>
        <a:srgbClr val="9AA0A6"/>
      </a:accent5>
      <a:accent6>
        <a:srgbClr val="A09D9A"/>
      </a:accent6>
      <a:hlink>
        <a:srgbClr val="0563C1"/>
      </a:hlink>
      <a:folHlink>
        <a:srgbClr val="954F72"/>
      </a:folHlink>
    </a:clrScheme>
    <a:fontScheme name="Capstone Midterm: Himalayan Roast (8 slides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1048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Capstone Midterm: Himalayan Roast (8 slides)</vt:lpstr>
      <vt:lpstr>BrewMellow.</vt:lpstr>
      <vt:lpstr>The User &amp; The Specialty Coffee Problem</vt:lpstr>
      <vt:lpstr>Scope of this Demo &amp; Full-Stack Architecture</vt:lpstr>
      <vt:lpstr>Live Walkthrough: The Verified Vertical Slice</vt:lpstr>
      <vt:lpstr>Individual Contribution: Aanchal Chand Thakuri (@jaasly07)</vt:lpstr>
      <vt:lpstr>Individual Contribution: Aditya Kumar Gupta (@notyouradhee)</vt:lpstr>
      <vt:lpstr>Individual Contribution: Kushan Sunuwar (@Kushan2191)</vt:lpstr>
      <vt:lpstr>Individual Contribution: Rohit Chantiyal (@Rohit-coder201)</vt:lpstr>
      <vt:lpstr>Next Steps &amp; Sprint 2 Post-Midterm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Midterm: Himalayan Roast (8 slides)</dc:title>
  <dc:subject/>
  <dc:creator/>
  <cp:lastModifiedBy>_not_your _adhee</cp:lastModifiedBy>
  <cp:revision>5</cp:revision>
  <dcterms:created xsi:type="dcterms:W3CDTF">2026-10-17T05:26:20Z</dcterms:created>
  <dcterms:modified xsi:type="dcterms:W3CDTF">2026-10-22T02:43:04Z</dcterms:modified>
</cp:coreProperties>
</file>